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81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6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CF35A7-A844-4A55-BEB2-332F45FB1928}" v="7" dt="2026-04-05T21:51:09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J Rodriguez B" userId="67b66e64e8bc1cbb" providerId="LiveId" clId="{34D116AD-F7A3-4B5C-84DD-FC6919F8ADBE}"/>
    <pc:docChg chg="undo custSel addSld delSld modSld">
      <pc:chgData name="Juan J Rodriguez B" userId="67b66e64e8bc1cbb" providerId="LiveId" clId="{34D116AD-F7A3-4B5C-84DD-FC6919F8ADBE}" dt="2026-04-06T00:17:53.097" v="509" actId="5793"/>
      <pc:docMkLst>
        <pc:docMk/>
      </pc:docMkLst>
      <pc:sldChg chg="addSp delSp modSp mod">
        <pc:chgData name="Juan J Rodriguez B" userId="67b66e64e8bc1cbb" providerId="LiveId" clId="{34D116AD-F7A3-4B5C-84DD-FC6919F8ADBE}" dt="2026-04-05T23:23:31.121" v="41" actId="122"/>
        <pc:sldMkLst>
          <pc:docMk/>
          <pc:sldMk cId="0" sldId="256"/>
        </pc:sldMkLst>
        <pc:spChg chg="del">
          <ac:chgData name="Juan J Rodriguez B" userId="67b66e64e8bc1cbb" providerId="LiveId" clId="{34D116AD-F7A3-4B5C-84DD-FC6919F8ADBE}" dt="2026-04-05T21:49:19.491" v="8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23:31.121" v="41" actId="122"/>
          <ac:spMkLst>
            <pc:docMk/>
            <pc:sldMk cId="0" sldId="256"/>
            <ac:spMk id="6" creationId="{00000000-0000-0000-0000-000000000000}"/>
          </ac:spMkLst>
        </pc:spChg>
        <pc:picChg chg="del">
          <ac:chgData name="Juan J Rodriguez B" userId="67b66e64e8bc1cbb" providerId="LiveId" clId="{34D116AD-F7A3-4B5C-84DD-FC6919F8ADBE}" dt="2026-04-05T21:48:58.921" v="4" actId="478"/>
          <ac:picMkLst>
            <pc:docMk/>
            <pc:sldMk cId="0" sldId="256"/>
            <ac:picMk id="5" creationId="{00000000-0000-0000-0000-000000000000}"/>
          </ac:picMkLst>
        </pc:picChg>
        <pc:picChg chg="add mod">
          <ac:chgData name="Juan J Rodriguez B" userId="67b66e64e8bc1cbb" providerId="LiveId" clId="{34D116AD-F7A3-4B5C-84DD-FC6919F8ADBE}" dt="2026-04-05T21:49:00.391" v="5"/>
          <ac:picMkLst>
            <pc:docMk/>
            <pc:sldMk cId="0" sldId="256"/>
            <ac:picMk id="12" creationId="{3E5A1E28-C30D-7C99-9F75-20B0A5918E77}"/>
          </ac:picMkLst>
        </pc:picChg>
        <pc:picChg chg="add mod">
          <ac:chgData name="Juan J Rodriguez B" userId="67b66e64e8bc1cbb" providerId="LiveId" clId="{34D116AD-F7A3-4B5C-84DD-FC6919F8ADBE}" dt="2026-04-05T21:49:29.546" v="19" actId="1037"/>
          <ac:picMkLst>
            <pc:docMk/>
            <pc:sldMk cId="0" sldId="256"/>
            <ac:picMk id="13" creationId="{1112655B-22B9-ADFD-6926-83BA8B0923B0}"/>
          </ac:picMkLst>
        </pc:picChg>
      </pc:sldChg>
      <pc:sldChg chg="del">
        <pc:chgData name="Juan J Rodriguez B" userId="67b66e64e8bc1cbb" providerId="LiveId" clId="{34D116AD-F7A3-4B5C-84DD-FC6919F8ADBE}" dt="2026-04-05T21:50:36.570" v="23" actId="2696"/>
        <pc:sldMkLst>
          <pc:docMk/>
          <pc:sldMk cId="0" sldId="257"/>
        </pc:sldMkLst>
      </pc:sldChg>
      <pc:sldChg chg="addSp delSp modSp mod">
        <pc:chgData name="Juan J Rodriguez B" userId="67b66e64e8bc1cbb" providerId="LiveId" clId="{34D116AD-F7A3-4B5C-84DD-FC6919F8ADBE}" dt="2026-04-05T23:27:06.401" v="56" actId="20577"/>
        <pc:sldMkLst>
          <pc:docMk/>
          <pc:sldMk cId="0" sldId="258"/>
        </pc:sldMkLst>
        <pc:spChg chg="mod">
          <ac:chgData name="Juan J Rodriguez B" userId="67b66e64e8bc1cbb" providerId="LiveId" clId="{34D116AD-F7A3-4B5C-84DD-FC6919F8ADBE}" dt="2026-04-05T21:51:42.095" v="35" actId="1037"/>
          <ac:spMkLst>
            <pc:docMk/>
            <pc:sldMk cId="0" sldId="258"/>
            <ac:spMk id="2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27:06.401" v="56" actId="20577"/>
          <ac:spMkLst>
            <pc:docMk/>
            <pc:sldMk cId="0" sldId="258"/>
            <ac:spMk id="6" creationId="{00000000-0000-0000-0000-000000000000}"/>
          </ac:spMkLst>
        </pc:spChg>
        <pc:picChg chg="del mod">
          <ac:chgData name="Juan J Rodriguez B" userId="67b66e64e8bc1cbb" providerId="LiveId" clId="{34D116AD-F7A3-4B5C-84DD-FC6919F8ADBE}" dt="2026-04-05T21:52:06.440" v="36" actId="478"/>
          <ac:picMkLst>
            <pc:docMk/>
            <pc:sldMk cId="0" sldId="258"/>
            <ac:picMk id="3" creationId="{00000000-0000-0000-0000-000000000000}"/>
          </ac:picMkLst>
        </pc:picChg>
        <pc:picChg chg="add mod">
          <ac:chgData name="Juan J Rodriguez B" userId="67b66e64e8bc1cbb" providerId="LiveId" clId="{34D116AD-F7A3-4B5C-84DD-FC6919F8ADBE}" dt="2026-04-05T21:51:38.256" v="32" actId="1076"/>
          <ac:picMkLst>
            <pc:docMk/>
            <pc:sldMk cId="0" sldId="258"/>
            <ac:picMk id="10" creationId="{AB926D31-A93D-2ECB-BE1F-8C58D26B9526}"/>
          </ac:picMkLst>
        </pc:picChg>
      </pc:sldChg>
      <pc:sldChg chg="addSp delSp modSp mod">
        <pc:chgData name="Juan J Rodriguez B" userId="67b66e64e8bc1cbb" providerId="LiveId" clId="{34D116AD-F7A3-4B5C-84DD-FC6919F8ADBE}" dt="2026-04-05T23:40:01.924" v="201" actId="20577"/>
        <pc:sldMkLst>
          <pc:docMk/>
          <pc:sldMk cId="0" sldId="265"/>
        </pc:sldMkLst>
        <pc:spChg chg="del">
          <ac:chgData name="Juan J Rodriguez B" userId="67b66e64e8bc1cbb" providerId="LiveId" clId="{34D116AD-F7A3-4B5C-84DD-FC6919F8ADBE}" dt="2026-04-05T21:49:40.236" v="21" actId="478"/>
          <ac:spMkLst>
            <pc:docMk/>
            <pc:sldMk cId="0" sldId="265"/>
            <ac:spMk id="4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40:01.924" v="201" actId="20577"/>
          <ac:spMkLst>
            <pc:docMk/>
            <pc:sldMk cId="0" sldId="265"/>
            <ac:spMk id="9" creationId="{00000000-0000-0000-0000-000000000000}"/>
          </ac:spMkLst>
        </pc:spChg>
        <pc:picChg chg="del">
          <ac:chgData name="Juan J Rodriguez B" userId="67b66e64e8bc1cbb" providerId="LiveId" clId="{34D116AD-F7A3-4B5C-84DD-FC6919F8ADBE}" dt="2026-04-05T21:49:38.435" v="20" actId="478"/>
          <ac:picMkLst>
            <pc:docMk/>
            <pc:sldMk cId="0" sldId="265"/>
            <ac:picMk id="5" creationId="{00000000-0000-0000-0000-000000000000}"/>
          </ac:picMkLst>
        </pc:picChg>
        <pc:picChg chg="add mod">
          <ac:chgData name="Juan J Rodriguez B" userId="67b66e64e8bc1cbb" providerId="LiveId" clId="{34D116AD-F7A3-4B5C-84DD-FC6919F8ADBE}" dt="2026-04-05T21:49:41.724" v="22"/>
          <ac:picMkLst>
            <pc:docMk/>
            <pc:sldMk cId="0" sldId="265"/>
            <ac:picMk id="12" creationId="{8E246BFB-BA91-77D1-53BD-9C200B4BAACB}"/>
          </ac:picMkLst>
        </pc:picChg>
      </pc:sldChg>
      <pc:sldChg chg="modSp mod">
        <pc:chgData name="Juan J Rodriguez B" userId="67b66e64e8bc1cbb" providerId="LiveId" clId="{34D116AD-F7A3-4B5C-84DD-FC6919F8ADBE}" dt="2026-04-05T23:28:25.091" v="142" actId="14100"/>
        <pc:sldMkLst>
          <pc:docMk/>
          <pc:sldMk cId="0" sldId="266"/>
        </pc:sldMkLst>
        <pc:spChg chg="mod">
          <ac:chgData name="Juan J Rodriguez B" userId="67b66e64e8bc1cbb" providerId="LiveId" clId="{34D116AD-F7A3-4B5C-84DD-FC6919F8ADBE}" dt="2026-04-05T23:28:25.091" v="142" actId="14100"/>
          <ac:spMkLst>
            <pc:docMk/>
            <pc:sldMk cId="0" sldId="266"/>
            <ac:spMk id="8" creationId="{00000000-0000-0000-0000-000000000000}"/>
          </ac:spMkLst>
        </pc:spChg>
      </pc:sldChg>
      <pc:sldChg chg="new del">
        <pc:chgData name="Juan J Rodriguez B" userId="67b66e64e8bc1cbb" providerId="LiveId" clId="{34D116AD-F7A3-4B5C-84DD-FC6919F8ADBE}" dt="2026-04-05T21:48:37.287" v="3" actId="47"/>
        <pc:sldMkLst>
          <pc:docMk/>
          <pc:sldMk cId="143856395" sldId="266"/>
        </pc:sldMkLst>
      </pc:sldChg>
      <pc:sldChg chg="modSp add del mod setBg">
        <pc:chgData name="Juan J Rodriguez B" userId="67b66e64e8bc1cbb" providerId="LiveId" clId="{34D116AD-F7A3-4B5C-84DD-FC6919F8ADBE}" dt="2026-04-05T23:28:45.541" v="143" actId="14100"/>
        <pc:sldMkLst>
          <pc:docMk/>
          <pc:sldMk cId="0" sldId="267"/>
        </pc:sldMkLst>
        <pc:spChg chg="mod">
          <ac:chgData name="Juan J Rodriguez B" userId="67b66e64e8bc1cbb" providerId="LiveId" clId="{34D116AD-F7A3-4B5C-84DD-FC6919F8ADBE}" dt="2026-04-05T23:28:45.541" v="143" actId="14100"/>
          <ac:spMkLst>
            <pc:docMk/>
            <pc:sldMk cId="0" sldId="267"/>
            <ac:spMk id="11" creationId="{00000000-0000-0000-0000-000000000000}"/>
          </ac:spMkLst>
        </pc:spChg>
      </pc:sldChg>
      <pc:sldChg chg="modSp mod">
        <pc:chgData name="Juan J Rodriguez B" userId="67b66e64e8bc1cbb" providerId="LiveId" clId="{34D116AD-F7A3-4B5C-84DD-FC6919F8ADBE}" dt="2026-04-05T23:29:07.015" v="146" actId="14100"/>
        <pc:sldMkLst>
          <pc:docMk/>
          <pc:sldMk cId="0" sldId="268"/>
        </pc:sldMkLst>
        <pc:spChg chg="mod">
          <ac:chgData name="Juan J Rodriguez B" userId="67b66e64e8bc1cbb" providerId="LiveId" clId="{34D116AD-F7A3-4B5C-84DD-FC6919F8ADBE}" dt="2026-04-05T23:28:59.524" v="144" actId="14100"/>
          <ac:spMkLst>
            <pc:docMk/>
            <pc:sldMk cId="0" sldId="268"/>
            <ac:spMk id="8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29:07.015" v="146" actId="14100"/>
          <ac:spMkLst>
            <pc:docMk/>
            <pc:sldMk cId="0" sldId="268"/>
            <ac:spMk id="11" creationId="{00000000-0000-0000-0000-000000000000}"/>
          </ac:spMkLst>
        </pc:spChg>
      </pc:sldChg>
      <pc:sldChg chg="modSp mod">
        <pc:chgData name="Juan J Rodriguez B" userId="67b66e64e8bc1cbb" providerId="LiveId" clId="{34D116AD-F7A3-4B5C-84DD-FC6919F8ADBE}" dt="2026-04-05T23:30:01.201" v="148" actId="403"/>
        <pc:sldMkLst>
          <pc:docMk/>
          <pc:sldMk cId="0" sldId="269"/>
        </pc:sldMkLst>
        <pc:spChg chg="mod">
          <ac:chgData name="Juan J Rodriguez B" userId="67b66e64e8bc1cbb" providerId="LiveId" clId="{34D116AD-F7A3-4B5C-84DD-FC6919F8ADBE}" dt="2026-04-05T23:30:01.201" v="148" actId="403"/>
          <ac:spMkLst>
            <pc:docMk/>
            <pc:sldMk cId="0" sldId="269"/>
            <ac:spMk id="8" creationId="{00000000-0000-0000-0000-000000000000}"/>
          </ac:spMkLst>
        </pc:spChg>
      </pc:sldChg>
      <pc:sldChg chg="modSp mod">
        <pc:chgData name="Juan J Rodriguez B" userId="67b66e64e8bc1cbb" providerId="LiveId" clId="{34D116AD-F7A3-4B5C-84DD-FC6919F8ADBE}" dt="2026-04-05T23:30:13.824" v="149" actId="33524"/>
        <pc:sldMkLst>
          <pc:docMk/>
          <pc:sldMk cId="0" sldId="270"/>
        </pc:sldMkLst>
        <pc:spChg chg="mod">
          <ac:chgData name="Juan J Rodriguez B" userId="67b66e64e8bc1cbb" providerId="LiveId" clId="{34D116AD-F7A3-4B5C-84DD-FC6919F8ADBE}" dt="2026-04-05T23:30:13.824" v="149" actId="33524"/>
          <ac:spMkLst>
            <pc:docMk/>
            <pc:sldMk cId="0" sldId="270"/>
            <ac:spMk id="11" creationId="{00000000-0000-0000-0000-000000000000}"/>
          </ac:spMkLst>
        </pc:spChg>
      </pc:sldChg>
      <pc:sldChg chg="modSp mod">
        <pc:chgData name="Juan J Rodriguez B" userId="67b66e64e8bc1cbb" providerId="LiveId" clId="{34D116AD-F7A3-4B5C-84DD-FC6919F8ADBE}" dt="2026-04-05T23:30:34.560" v="155" actId="20577"/>
        <pc:sldMkLst>
          <pc:docMk/>
          <pc:sldMk cId="0" sldId="271"/>
        </pc:sldMkLst>
        <pc:spChg chg="mod">
          <ac:chgData name="Juan J Rodriguez B" userId="67b66e64e8bc1cbb" providerId="LiveId" clId="{34D116AD-F7A3-4B5C-84DD-FC6919F8ADBE}" dt="2026-04-05T23:30:25.581" v="151" actId="20577"/>
          <ac:spMkLst>
            <pc:docMk/>
            <pc:sldMk cId="0" sldId="271"/>
            <ac:spMk id="8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30:29.966" v="153" actId="20577"/>
          <ac:spMkLst>
            <pc:docMk/>
            <pc:sldMk cId="0" sldId="271"/>
            <ac:spMk id="13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30:34.560" v="155" actId="20577"/>
          <ac:spMkLst>
            <pc:docMk/>
            <pc:sldMk cId="0" sldId="271"/>
            <ac:spMk id="18" creationId="{00000000-0000-0000-0000-000000000000}"/>
          </ac:spMkLst>
        </pc:spChg>
      </pc:sldChg>
      <pc:sldChg chg="modSp mod">
        <pc:chgData name="Juan J Rodriguez B" userId="67b66e64e8bc1cbb" providerId="LiveId" clId="{34D116AD-F7A3-4B5C-84DD-FC6919F8ADBE}" dt="2026-04-06T00:07:37.576" v="435" actId="20577"/>
        <pc:sldMkLst>
          <pc:docMk/>
          <pc:sldMk cId="0" sldId="272"/>
        </pc:sldMkLst>
        <pc:spChg chg="mod">
          <ac:chgData name="Juan J Rodriguez B" userId="67b66e64e8bc1cbb" providerId="LiveId" clId="{34D116AD-F7A3-4B5C-84DD-FC6919F8ADBE}" dt="2026-04-06T00:07:16.616" v="431" actId="1035"/>
          <ac:spMkLst>
            <pc:docMk/>
            <pc:sldMk cId="0" sldId="272"/>
            <ac:spMk id="5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6T00:07:34.785" v="434" actId="14100"/>
          <ac:spMkLst>
            <pc:docMk/>
            <pc:sldMk cId="0" sldId="272"/>
            <ac:spMk id="6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6T00:04:32.426" v="393" actId="14100"/>
          <ac:spMkLst>
            <pc:docMk/>
            <pc:sldMk cId="0" sldId="272"/>
            <ac:spMk id="7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6T00:07:37.576" v="435" actId="20577"/>
          <ac:spMkLst>
            <pc:docMk/>
            <pc:sldMk cId="0" sldId="272"/>
            <ac:spMk id="8" creationId="{00000000-0000-0000-0000-000000000000}"/>
          </ac:spMkLst>
        </pc:spChg>
      </pc:sldChg>
      <pc:sldChg chg="modSp mod">
        <pc:chgData name="Juan J Rodriguez B" userId="67b66e64e8bc1cbb" providerId="LiveId" clId="{34D116AD-F7A3-4B5C-84DD-FC6919F8ADBE}" dt="2026-04-05T23:48:08.579" v="235" actId="1076"/>
        <pc:sldMkLst>
          <pc:docMk/>
          <pc:sldMk cId="0" sldId="273"/>
        </pc:sldMkLst>
        <pc:spChg chg="mod">
          <ac:chgData name="Juan J Rodriguez B" userId="67b66e64e8bc1cbb" providerId="LiveId" clId="{34D116AD-F7A3-4B5C-84DD-FC6919F8ADBE}" dt="2026-04-05T23:45:18.025" v="209" actId="14100"/>
          <ac:spMkLst>
            <pc:docMk/>
            <pc:sldMk cId="0" sldId="273"/>
            <ac:spMk id="6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45:26.971" v="211" actId="404"/>
          <ac:spMkLst>
            <pc:docMk/>
            <pc:sldMk cId="0" sldId="273"/>
            <ac:spMk id="7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45:39.444" v="213" actId="14100"/>
          <ac:spMkLst>
            <pc:docMk/>
            <pc:sldMk cId="0" sldId="273"/>
            <ac:spMk id="8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45:47.229" v="215" actId="14100"/>
          <ac:spMkLst>
            <pc:docMk/>
            <pc:sldMk cId="0" sldId="273"/>
            <ac:spMk id="9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45:55.238" v="217" actId="14100"/>
          <ac:spMkLst>
            <pc:docMk/>
            <pc:sldMk cId="0" sldId="273"/>
            <ac:spMk id="10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46:28.249" v="220" actId="14100"/>
          <ac:spMkLst>
            <pc:docMk/>
            <pc:sldMk cId="0" sldId="273"/>
            <ac:spMk id="11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47:12.377" v="223" actId="14100"/>
          <ac:spMkLst>
            <pc:docMk/>
            <pc:sldMk cId="0" sldId="273"/>
            <ac:spMk id="12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47:18.512" v="225" actId="14100"/>
          <ac:spMkLst>
            <pc:docMk/>
            <pc:sldMk cId="0" sldId="273"/>
            <ac:spMk id="13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48:08.579" v="235" actId="1076"/>
          <ac:spMkLst>
            <pc:docMk/>
            <pc:sldMk cId="0" sldId="273"/>
            <ac:spMk id="14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48:08.142" v="234" actId="14100"/>
          <ac:spMkLst>
            <pc:docMk/>
            <pc:sldMk cId="0" sldId="273"/>
            <ac:spMk id="15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48:04.683" v="233" actId="14100"/>
          <ac:spMkLst>
            <pc:docMk/>
            <pc:sldMk cId="0" sldId="273"/>
            <ac:spMk id="16" creationId="{00000000-0000-0000-0000-000000000000}"/>
          </ac:spMkLst>
        </pc:spChg>
      </pc:sldChg>
      <pc:sldChg chg="modSp mod">
        <pc:chgData name="Juan J Rodriguez B" userId="67b66e64e8bc1cbb" providerId="LiveId" clId="{34D116AD-F7A3-4B5C-84DD-FC6919F8ADBE}" dt="2026-04-05T23:49:49.949" v="236" actId="14100"/>
        <pc:sldMkLst>
          <pc:docMk/>
          <pc:sldMk cId="0" sldId="274"/>
        </pc:sldMkLst>
        <pc:spChg chg="mod">
          <ac:chgData name="Juan J Rodriguez B" userId="67b66e64e8bc1cbb" providerId="LiveId" clId="{34D116AD-F7A3-4B5C-84DD-FC6919F8ADBE}" dt="2026-04-05T23:40:42.622" v="202" actId="14100"/>
          <ac:spMkLst>
            <pc:docMk/>
            <pc:sldMk cId="0" sldId="274"/>
            <ac:spMk id="6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40:50.146" v="203" actId="14100"/>
          <ac:spMkLst>
            <pc:docMk/>
            <pc:sldMk cId="0" sldId="274"/>
            <ac:spMk id="7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49:49.949" v="236" actId="14100"/>
          <ac:spMkLst>
            <pc:docMk/>
            <pc:sldMk cId="0" sldId="274"/>
            <ac:spMk id="8" creationId="{00000000-0000-0000-0000-000000000000}"/>
          </ac:spMkLst>
        </pc:spChg>
      </pc:sldChg>
      <pc:sldChg chg="modSp mod">
        <pc:chgData name="Juan J Rodriguez B" userId="67b66e64e8bc1cbb" providerId="LiveId" clId="{34D116AD-F7A3-4B5C-84DD-FC6919F8ADBE}" dt="2026-04-05T23:36:38.257" v="172" actId="20577"/>
        <pc:sldMkLst>
          <pc:docMk/>
          <pc:sldMk cId="0" sldId="275"/>
        </pc:sldMkLst>
        <pc:spChg chg="mod">
          <ac:chgData name="Juan J Rodriguez B" userId="67b66e64e8bc1cbb" providerId="LiveId" clId="{34D116AD-F7A3-4B5C-84DD-FC6919F8ADBE}" dt="2026-04-05T23:36:28.310" v="166" actId="20577"/>
          <ac:spMkLst>
            <pc:docMk/>
            <pc:sldMk cId="0" sldId="275"/>
            <ac:spMk id="8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36:33.918" v="169" actId="20577"/>
          <ac:spMkLst>
            <pc:docMk/>
            <pc:sldMk cId="0" sldId="275"/>
            <ac:spMk id="13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36:38.257" v="172" actId="20577"/>
          <ac:spMkLst>
            <pc:docMk/>
            <pc:sldMk cId="0" sldId="275"/>
            <ac:spMk id="18" creationId="{00000000-0000-0000-0000-000000000000}"/>
          </ac:spMkLst>
        </pc:spChg>
      </pc:sldChg>
      <pc:sldChg chg="modSp mod">
        <pc:chgData name="Juan J Rodriguez B" userId="67b66e64e8bc1cbb" providerId="LiveId" clId="{34D116AD-F7A3-4B5C-84DD-FC6919F8ADBE}" dt="2026-04-05T23:37:18.912" v="180" actId="6549"/>
        <pc:sldMkLst>
          <pc:docMk/>
          <pc:sldMk cId="0" sldId="276"/>
        </pc:sldMkLst>
        <pc:spChg chg="mod">
          <ac:chgData name="Juan J Rodriguez B" userId="67b66e64e8bc1cbb" providerId="LiveId" clId="{34D116AD-F7A3-4B5C-84DD-FC6919F8ADBE}" dt="2026-04-05T23:37:18.912" v="180" actId="6549"/>
          <ac:spMkLst>
            <pc:docMk/>
            <pc:sldMk cId="0" sldId="276"/>
            <ac:spMk id="6" creationId="{00000000-0000-0000-0000-000000000000}"/>
          </ac:spMkLst>
        </pc:spChg>
      </pc:sldChg>
      <pc:sldChg chg="modSp mod">
        <pc:chgData name="Juan J Rodriguez B" userId="67b66e64e8bc1cbb" providerId="LiveId" clId="{34D116AD-F7A3-4B5C-84DD-FC6919F8ADBE}" dt="2026-04-05T23:52:06.667" v="263" actId="14100"/>
        <pc:sldMkLst>
          <pc:docMk/>
          <pc:sldMk cId="0" sldId="277"/>
        </pc:sldMkLst>
        <pc:spChg chg="mod">
          <ac:chgData name="Juan J Rodriguez B" userId="67b66e64e8bc1cbb" providerId="LiveId" clId="{34D116AD-F7A3-4B5C-84DD-FC6919F8ADBE}" dt="2026-04-05T23:52:06.667" v="263" actId="14100"/>
          <ac:spMkLst>
            <pc:docMk/>
            <pc:sldMk cId="0" sldId="277"/>
            <ac:spMk id="6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52:04.389" v="262" actId="14100"/>
          <ac:spMkLst>
            <pc:docMk/>
            <pc:sldMk cId="0" sldId="277"/>
            <ac:spMk id="7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37:40.512" v="185" actId="14100"/>
          <ac:spMkLst>
            <pc:docMk/>
            <pc:sldMk cId="0" sldId="277"/>
            <ac:spMk id="8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37:45.092" v="186" actId="14100"/>
          <ac:spMkLst>
            <pc:docMk/>
            <pc:sldMk cId="0" sldId="277"/>
            <ac:spMk id="9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37:56.732" v="189" actId="403"/>
          <ac:spMkLst>
            <pc:docMk/>
            <pc:sldMk cId="0" sldId="277"/>
            <ac:spMk id="10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38:07.532" v="190" actId="14100"/>
          <ac:spMkLst>
            <pc:docMk/>
            <pc:sldMk cId="0" sldId="277"/>
            <ac:spMk id="11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38:12.935" v="191" actId="14100"/>
          <ac:spMkLst>
            <pc:docMk/>
            <pc:sldMk cId="0" sldId="277"/>
            <ac:spMk id="12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38:20.902" v="193" actId="14100"/>
          <ac:spMkLst>
            <pc:docMk/>
            <pc:sldMk cId="0" sldId="277"/>
            <ac:spMk id="14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38:25.412" v="194" actId="14100"/>
          <ac:spMkLst>
            <pc:docMk/>
            <pc:sldMk cId="0" sldId="277"/>
            <ac:spMk id="15" creationId="{00000000-0000-0000-0000-000000000000}"/>
          </ac:spMkLst>
        </pc:spChg>
      </pc:sldChg>
      <pc:sldChg chg="modSp mod">
        <pc:chgData name="Juan J Rodriguez B" userId="67b66e64e8bc1cbb" providerId="LiveId" clId="{34D116AD-F7A3-4B5C-84DD-FC6919F8ADBE}" dt="2026-04-05T23:54:44.867" v="321" actId="403"/>
        <pc:sldMkLst>
          <pc:docMk/>
          <pc:sldMk cId="0" sldId="278"/>
        </pc:sldMkLst>
        <pc:spChg chg="mod">
          <ac:chgData name="Juan J Rodriguez B" userId="67b66e64e8bc1cbb" providerId="LiveId" clId="{34D116AD-F7A3-4B5C-84DD-FC6919F8ADBE}" dt="2026-04-05T23:52:26.139" v="266" actId="6549"/>
          <ac:spMkLst>
            <pc:docMk/>
            <pc:sldMk cId="0" sldId="278"/>
            <ac:spMk id="4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38:54.077" v="195" actId="14100"/>
          <ac:spMkLst>
            <pc:docMk/>
            <pc:sldMk cId="0" sldId="278"/>
            <ac:spMk id="6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39:00.616" v="196" actId="14100"/>
          <ac:spMkLst>
            <pc:docMk/>
            <pc:sldMk cId="0" sldId="278"/>
            <ac:spMk id="7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54:44.867" v="321" actId="403"/>
          <ac:spMkLst>
            <pc:docMk/>
            <pc:sldMk cId="0" sldId="278"/>
            <ac:spMk id="8" creationId="{00000000-0000-0000-0000-000000000000}"/>
          </ac:spMkLst>
        </pc:spChg>
      </pc:sldChg>
      <pc:sldChg chg="modSp mod">
        <pc:chgData name="Juan J Rodriguez B" userId="67b66e64e8bc1cbb" providerId="LiveId" clId="{34D116AD-F7A3-4B5C-84DD-FC6919F8ADBE}" dt="2026-04-05T23:59:29.737" v="391" actId="14100"/>
        <pc:sldMkLst>
          <pc:docMk/>
          <pc:sldMk cId="0" sldId="279"/>
        </pc:sldMkLst>
        <pc:spChg chg="mod">
          <ac:chgData name="Juan J Rodriguez B" userId="67b66e64e8bc1cbb" providerId="LiveId" clId="{34D116AD-F7A3-4B5C-84DD-FC6919F8ADBE}" dt="2026-04-05T23:55:39.703" v="331" actId="14100"/>
          <ac:spMkLst>
            <pc:docMk/>
            <pc:sldMk cId="0" sldId="279"/>
            <ac:spMk id="6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55:51.398" v="334" actId="14100"/>
          <ac:spMkLst>
            <pc:docMk/>
            <pc:sldMk cId="0" sldId="279"/>
            <ac:spMk id="7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59:10.632" v="386" actId="14100"/>
          <ac:spMkLst>
            <pc:docMk/>
            <pc:sldMk cId="0" sldId="279"/>
            <ac:spMk id="8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59:13.887" v="387" actId="1076"/>
          <ac:spMkLst>
            <pc:docMk/>
            <pc:sldMk cId="0" sldId="279"/>
            <ac:spMk id="9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59:18.845" v="389" actId="14100"/>
          <ac:spMkLst>
            <pc:docMk/>
            <pc:sldMk cId="0" sldId="279"/>
            <ac:spMk id="10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56:51.741" v="346" actId="14100"/>
          <ac:spMkLst>
            <pc:docMk/>
            <pc:sldMk cId="0" sldId="279"/>
            <ac:spMk id="11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57:29.796" v="356" actId="14100"/>
          <ac:spMkLst>
            <pc:docMk/>
            <pc:sldMk cId="0" sldId="279"/>
            <ac:spMk id="12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59:29.737" v="391" actId="14100"/>
          <ac:spMkLst>
            <pc:docMk/>
            <pc:sldMk cId="0" sldId="279"/>
            <ac:spMk id="13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58:18.293" v="373" actId="14100"/>
          <ac:spMkLst>
            <pc:docMk/>
            <pc:sldMk cId="0" sldId="279"/>
            <ac:spMk id="14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58:20.826" v="374" actId="14100"/>
          <ac:spMkLst>
            <pc:docMk/>
            <pc:sldMk cId="0" sldId="279"/>
            <ac:spMk id="15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5T23:58:55.461" v="384" actId="6549"/>
          <ac:spMkLst>
            <pc:docMk/>
            <pc:sldMk cId="0" sldId="279"/>
            <ac:spMk id="16" creationId="{00000000-0000-0000-0000-000000000000}"/>
          </ac:spMkLst>
        </pc:spChg>
      </pc:sldChg>
      <pc:sldChg chg="modSp mod">
        <pc:chgData name="Juan J Rodriguez B" userId="67b66e64e8bc1cbb" providerId="LiveId" clId="{34D116AD-F7A3-4B5C-84DD-FC6919F8ADBE}" dt="2026-04-06T00:17:53.097" v="509" actId="5793"/>
        <pc:sldMkLst>
          <pc:docMk/>
          <pc:sldMk cId="0" sldId="280"/>
        </pc:sldMkLst>
        <pc:spChg chg="mod">
          <ac:chgData name="Juan J Rodriguez B" userId="67b66e64e8bc1cbb" providerId="LiveId" clId="{34D116AD-F7A3-4B5C-84DD-FC6919F8ADBE}" dt="2026-04-05T23:39:24.491" v="197" actId="14100"/>
          <ac:spMkLst>
            <pc:docMk/>
            <pc:sldMk cId="0" sldId="280"/>
            <ac:spMk id="4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6T00:16:36.677" v="437" actId="14100"/>
          <ac:spMkLst>
            <pc:docMk/>
            <pc:sldMk cId="0" sldId="280"/>
            <ac:spMk id="6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6T00:16:45.007" v="439" actId="14100"/>
          <ac:spMkLst>
            <pc:docMk/>
            <pc:sldMk cId="0" sldId="280"/>
            <ac:spMk id="7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6T00:17:53.097" v="509" actId="5793"/>
          <ac:spMkLst>
            <pc:docMk/>
            <pc:sldMk cId="0" sldId="280"/>
            <ac:spMk id="8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6T00:17:16.727" v="493" actId="14100"/>
          <ac:spMkLst>
            <pc:docMk/>
            <pc:sldMk cId="0" sldId="280"/>
            <ac:spMk id="9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6T00:17:20.524" v="494" actId="14100"/>
          <ac:spMkLst>
            <pc:docMk/>
            <pc:sldMk cId="0" sldId="280"/>
            <ac:spMk id="10" creationId="{00000000-0000-0000-0000-000000000000}"/>
          </ac:spMkLst>
        </pc:spChg>
        <pc:spChg chg="mod">
          <ac:chgData name="Juan J Rodriguez B" userId="67b66e64e8bc1cbb" providerId="LiveId" clId="{34D116AD-F7A3-4B5C-84DD-FC6919F8ADBE}" dt="2026-04-06T00:17:48.333" v="508" actId="6549"/>
          <ac:spMkLst>
            <pc:docMk/>
            <pc:sldMk cId="0" sldId="280"/>
            <ac:spMk id="11" creationId="{00000000-0000-0000-0000-000000000000}"/>
          </ac:spMkLst>
        </pc:spChg>
      </pc:sldChg>
      <pc:sldChg chg="addSp delSp modSp add mod">
        <pc:chgData name="Juan J Rodriguez B" userId="67b66e64e8bc1cbb" providerId="LiveId" clId="{34D116AD-F7A3-4B5C-84DD-FC6919F8ADBE}" dt="2026-04-06T00:06:37.497" v="414" actId="1076"/>
        <pc:sldMkLst>
          <pc:docMk/>
          <pc:sldMk cId="2214950721" sldId="281"/>
        </pc:sldMkLst>
        <pc:spChg chg="mod">
          <ac:chgData name="Juan J Rodriguez B" userId="67b66e64e8bc1cbb" providerId="LiveId" clId="{34D116AD-F7A3-4B5C-84DD-FC6919F8ADBE}" dt="2026-04-06T00:06:15.913" v="407" actId="1076"/>
          <ac:spMkLst>
            <pc:docMk/>
            <pc:sldMk cId="2214950721" sldId="281"/>
            <ac:spMk id="4" creationId="{3D94193B-3A9E-0143-69CB-E2753CE29444}"/>
          </ac:spMkLst>
        </pc:spChg>
        <pc:spChg chg="del">
          <ac:chgData name="Juan J Rodriguez B" userId="67b66e64e8bc1cbb" providerId="LiveId" clId="{34D116AD-F7A3-4B5C-84DD-FC6919F8ADBE}" dt="2026-04-06T00:06:22.698" v="409" actId="478"/>
          <ac:spMkLst>
            <pc:docMk/>
            <pc:sldMk cId="2214950721" sldId="281"/>
            <ac:spMk id="5" creationId="{F65FBFE9-F7F4-9839-7BC5-434378D0EB35}"/>
          </ac:spMkLst>
        </pc:spChg>
        <pc:spChg chg="del">
          <ac:chgData name="Juan J Rodriguez B" userId="67b66e64e8bc1cbb" providerId="LiveId" clId="{34D116AD-F7A3-4B5C-84DD-FC6919F8ADBE}" dt="2026-04-06T00:06:18.343" v="408" actId="478"/>
          <ac:spMkLst>
            <pc:docMk/>
            <pc:sldMk cId="2214950721" sldId="281"/>
            <ac:spMk id="6" creationId="{0A2F1E30-741A-66D0-72B1-37CA75FA3909}"/>
          </ac:spMkLst>
        </pc:spChg>
        <pc:spChg chg="del mod">
          <ac:chgData name="Juan J Rodriguez B" userId="67b66e64e8bc1cbb" providerId="LiveId" clId="{34D116AD-F7A3-4B5C-84DD-FC6919F8ADBE}" dt="2026-04-06T00:05:51.343" v="401" actId="478"/>
          <ac:spMkLst>
            <pc:docMk/>
            <pc:sldMk cId="2214950721" sldId="281"/>
            <ac:spMk id="8" creationId="{BE6C0FAF-A22E-8EB4-94A3-3CC472CB3AB8}"/>
          </ac:spMkLst>
        </pc:spChg>
        <pc:picChg chg="mod">
          <ac:chgData name="Juan J Rodriguez B" userId="67b66e64e8bc1cbb" providerId="LiveId" clId="{34D116AD-F7A3-4B5C-84DD-FC6919F8ADBE}" dt="2026-04-06T00:06:35.346" v="413" actId="14100"/>
          <ac:picMkLst>
            <pc:docMk/>
            <pc:sldMk cId="2214950721" sldId="281"/>
            <ac:picMk id="3" creationId="{438EE035-9C55-09EB-B71C-DBD3F277B0BD}"/>
          </ac:picMkLst>
        </pc:picChg>
        <pc:picChg chg="add mod">
          <ac:chgData name="Juan J Rodriguez B" userId="67b66e64e8bc1cbb" providerId="LiveId" clId="{34D116AD-F7A3-4B5C-84DD-FC6919F8ADBE}" dt="2026-04-06T00:06:37.497" v="414" actId="1076"/>
          <ac:picMkLst>
            <pc:docMk/>
            <pc:sldMk cId="2214950721" sldId="281"/>
            <ac:picMk id="13" creationId="{F24C4706-A3AD-D9B8-4D63-37885D3C09E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68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02920" y="0"/>
            <a:ext cx="4114800" cy="5143500"/>
          </a:xfrm>
          <a:prstGeom prst="rect">
            <a:avLst/>
          </a:prstGeom>
          <a:solidFill>
            <a:srgbClr val="00A39E">
              <a:alpha val="12000"/>
            </a:srgbClr>
          </a:solidFill>
          <a:ln w="12700">
            <a:solidFill>
              <a:srgbClr val="007A7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02920" y="11887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</a:t>
            </a:r>
            <a:r>
              <a:rPr lang="en-US" sz="3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3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con Scala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A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Sesión 2 · Día 1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2880360"/>
            <a:ext cx="2286000" cy="4572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IFCD0115  ·  Introducción al Procesamiento de Big Data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274320" y="48326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Impulso_06  ·  Formación y Futuro</a:t>
            </a:r>
            <a:endParaRPr lang="en-US" sz="800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1112655B-22B9-ADFD-6926-83BA8B092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8885" y="25677"/>
            <a:ext cx="12344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57515" y="18288"/>
            <a:ext cx="1481328" cy="704088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45720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TEÓRICO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0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e importancia de Big Data en la </a:t>
            </a:r>
            <a:r>
              <a:rPr lang="en-US" sz="1500" i="1" dirty="0" err="1">
                <a:solidFill>
                  <a:srgbClr val="D0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</a:t>
            </a:r>
            <a:r>
              <a:rPr lang="en-US" sz="1500" i="1" dirty="0">
                <a:solidFill>
                  <a:srgbClr val="D0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274320" y="48326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Impulso_06  ·  Formación y Futuro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138160" y="48326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B926D31-A93D-2ECB-BE1F-8C58D26B95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264" y="-3429"/>
            <a:ext cx="1188720" cy="7040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3152"/>
            <a:ext cx="1298448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" y="1828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Agenda — Sesión 2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04672"/>
            <a:ext cx="8595360" cy="22860"/>
          </a:xfrm>
          <a:prstGeom prst="rect">
            <a:avLst/>
          </a:prstGeom>
          <a:solidFill>
            <a:srgbClr val="C8ECEA"/>
          </a:solidFill>
          <a:ln w="12700">
            <a:solidFill>
              <a:srgbClr val="C8EC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320040" y="914400"/>
            <a:ext cx="850392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320040" y="914400"/>
            <a:ext cx="54864" cy="306324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374904" y="864108"/>
            <a:ext cx="8403336" cy="31135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r>
              <a:rPr lang="es-ES" sz="2400" b="1" dirty="0">
                <a:solidFill>
                  <a:srgbClr val="007A76"/>
                </a:solidFill>
                <a:latin typeface="Calibri"/>
              </a:rPr>
              <a:t>🧠 Bloque Teórico </a:t>
            </a:r>
          </a:p>
          <a:p>
            <a:pPr marL="342900" indent="-228600">
              <a:buChar char="•"/>
            </a:pPr>
            <a:r>
              <a:rPr lang="es-ES" sz="2000" dirty="0">
                <a:solidFill>
                  <a:srgbClr val="333333"/>
                </a:solidFill>
                <a:latin typeface="Calibri"/>
              </a:rPr>
              <a:t>Big Data en Retail, Finanzas, Sanidad y Telecomunicaciones</a:t>
            </a:r>
          </a:p>
          <a:p>
            <a:pPr marL="342900" indent="-228600">
              <a:buChar char="•"/>
            </a:pPr>
            <a:r>
              <a:rPr lang="es-ES" sz="2000" dirty="0">
                <a:solidFill>
                  <a:srgbClr val="333333"/>
                </a:solidFill>
                <a:latin typeface="Calibri"/>
              </a:rPr>
              <a:t>El stack tecnológico completo: Hadoop, Spark, Kafka, Hive</a:t>
            </a:r>
          </a:p>
          <a:p>
            <a:pPr marL="342900" indent="-228600">
              <a:buChar char="•"/>
            </a:pPr>
            <a:r>
              <a:rPr lang="es-ES" sz="2000" dirty="0">
                <a:solidFill>
                  <a:srgbClr val="333333"/>
                </a:solidFill>
                <a:latin typeface="Calibri"/>
              </a:rPr>
              <a:t>¿Por qué Spark es el motor central del ecosistema?</a:t>
            </a:r>
          </a:p>
          <a:p>
            <a:pPr marL="342900" indent="-228600">
              <a:buChar char="•"/>
            </a:pPr>
            <a:r>
              <a:rPr lang="es-ES" sz="2000" dirty="0">
                <a:solidFill>
                  <a:srgbClr val="333333"/>
                </a:solidFill>
                <a:latin typeface="Calibri"/>
              </a:rPr>
              <a:t>Datos como ventaja competitiva: casos de éxito reales</a:t>
            </a:r>
          </a:p>
          <a:p>
            <a:pPr>
              <a:buNone/>
            </a:pPr>
            <a:endParaRPr lang="es-ES" sz="1050" dirty="0"/>
          </a:p>
          <a:p>
            <a:pPr marL="228600" indent="-228600">
              <a:buNone/>
            </a:pPr>
            <a:r>
              <a:rPr lang="es-ES" sz="2400" b="1" dirty="0">
                <a:solidFill>
                  <a:srgbClr val="007A76"/>
                </a:solidFill>
                <a:latin typeface="Calibri"/>
              </a:rPr>
              <a:t>💻 Bloque Práctico </a:t>
            </a:r>
          </a:p>
          <a:p>
            <a:pPr marL="342900" indent="-228600">
              <a:buChar char="•"/>
            </a:pPr>
            <a:r>
              <a:rPr lang="es-ES" sz="2000" dirty="0">
                <a:solidFill>
                  <a:srgbClr val="333333"/>
                </a:solidFill>
                <a:latin typeface="Calibri"/>
              </a:rPr>
              <a:t>Práctica 1: Investigación guiada de un caso real </a:t>
            </a:r>
          </a:p>
          <a:p>
            <a:pPr marL="342900" indent="-228600">
              <a:buChar char="•"/>
            </a:pPr>
            <a:r>
              <a:rPr lang="es-ES" sz="2000" dirty="0">
                <a:solidFill>
                  <a:srgbClr val="333333"/>
                </a:solidFill>
                <a:latin typeface="Calibri"/>
              </a:rPr>
              <a:t>Práctica 2: Construir el mapa conceptual del </a:t>
            </a:r>
            <a:r>
              <a:rPr lang="es-ES" sz="2000" dirty="0" err="1">
                <a:solidFill>
                  <a:srgbClr val="333333"/>
                </a:solidFill>
                <a:latin typeface="Calibri"/>
              </a:rPr>
              <a:t>stack</a:t>
            </a:r>
            <a:r>
              <a:rPr lang="es-ES" sz="2000" dirty="0">
                <a:solidFill>
                  <a:srgbClr val="333333"/>
                </a:solidFill>
                <a:latin typeface="Calibri"/>
              </a:rPr>
              <a:t> </a:t>
            </a:r>
          </a:p>
          <a:p>
            <a:pPr marL="342900" indent="-228600">
              <a:buChar char="•"/>
            </a:pPr>
            <a:r>
              <a:rPr lang="es-ES" sz="2000" dirty="0">
                <a:solidFill>
                  <a:srgbClr val="333333"/>
                </a:solidFill>
                <a:latin typeface="Calibri"/>
              </a:rPr>
              <a:t>Práctica 3: Relacionar herramientas con sus funciones </a:t>
            </a:r>
          </a:p>
          <a:p>
            <a:pPr>
              <a:buNone/>
            </a:pPr>
            <a:endParaRPr lang="es-ES" sz="900" dirty="0"/>
          </a:p>
        </p:txBody>
      </p:sp>
      <p:sp>
        <p:nvSpPr>
          <p:cNvPr id="9" name="Shape 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274320" y="48326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Impulso_06  ·  Formación y Futuro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138160" y="48326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3152"/>
            <a:ext cx="1298448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" y="1828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Big Data en Retail y E-commerce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04672"/>
            <a:ext cx="8595360" cy="22860"/>
          </a:xfrm>
          <a:prstGeom prst="rect">
            <a:avLst/>
          </a:prstGeom>
          <a:solidFill>
            <a:srgbClr val="C8ECEA"/>
          </a:solidFill>
          <a:ln w="12700">
            <a:solidFill>
              <a:srgbClr val="C8EC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320040" y="914400"/>
            <a:ext cx="411480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320040" y="914400"/>
            <a:ext cx="54864" cy="306324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914400"/>
            <a:ext cx="3931920" cy="30632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El problema antes del Big Data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Stock calculado con hojas de cálculo y experiencia del comprador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Campañas de marketing enviadas a todos los clientes por igual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Devoluciones difíciles de predecir: pérdidas millonarias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Colas en tienda sin previsión de afluencia</a:t>
            </a:r>
          </a:p>
          <a:p>
            <a:pPr>
              <a:buNone/>
            </a:pPr>
            <a:endParaRPr lang="es-ES" sz="700" dirty="0"/>
          </a:p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Qué cambió con Big Data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Análisis de millones de transacciones para predecir demanda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Personalización: cada cliente ve ofertas distintas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Gestión de inventario en tiempo real, tienda a tienda</a:t>
            </a:r>
          </a:p>
        </p:txBody>
      </p:sp>
      <p:sp>
        <p:nvSpPr>
          <p:cNvPr id="9" name="Shape 6"/>
          <p:cNvSpPr/>
          <p:nvPr/>
        </p:nvSpPr>
        <p:spPr>
          <a:xfrm>
            <a:off x="4709160" y="914400"/>
            <a:ext cx="411480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4709160" y="914400"/>
            <a:ext cx="54864" cy="3063240"/>
          </a:xfrm>
          <a:prstGeom prst="rect">
            <a:avLst/>
          </a:prstGeom>
          <a:solidFill>
            <a:srgbClr val="007A76"/>
          </a:solidFill>
          <a:ln w="12700">
            <a:solidFill>
              <a:srgbClr val="007A7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4764024" y="914400"/>
            <a:ext cx="4014216" cy="30632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Caso real: Amazon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Procesa 1,6 millones de pedidos al día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Sistema de recomendación genera el 35% de sus ingresos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Anticipa compras antes de que el cliente pulse "comprar"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(sistema de "envío anticipado" — patente registrada)</a:t>
            </a:r>
          </a:p>
          <a:p>
            <a:pPr>
              <a:buNone/>
            </a:pPr>
            <a:endParaRPr lang="es-ES" sz="700" dirty="0"/>
          </a:p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Caso real: Inditex / Zara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Repone stock en 48h usando ventas en tiempo real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Reduce colecciones fallidas: solo produce lo que ya se vende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600 diseñadores toman decisiones basadas en datos de 7.000 tiendas</a:t>
            </a:r>
          </a:p>
        </p:txBody>
      </p:sp>
      <p:sp>
        <p:nvSpPr>
          <p:cNvPr id="12" name="Shape 9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274320" y="48326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Impulso_06  ·  Formación y Futuro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138160" y="48326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3152"/>
            <a:ext cx="1298448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" y="1828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Big Data en Finanzas y Banca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04672"/>
            <a:ext cx="8595360" cy="22860"/>
          </a:xfrm>
          <a:prstGeom prst="rect">
            <a:avLst/>
          </a:prstGeom>
          <a:solidFill>
            <a:srgbClr val="C8ECEA"/>
          </a:solidFill>
          <a:ln w="12700">
            <a:solidFill>
              <a:srgbClr val="C8EC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320040" y="914400"/>
            <a:ext cx="411480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320040" y="914400"/>
            <a:ext cx="54864" cy="306324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374904" y="914400"/>
            <a:ext cx="4014216" cy="30632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Detección de fraude en tiempo real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Se analizan más de 150 variables por transacción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Decisión en menos de 100 milisegundos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Visa bloquea 2.500 millones de dólares en fraude al año con ML</a:t>
            </a:r>
          </a:p>
          <a:p>
            <a:pPr>
              <a:buNone/>
            </a:pPr>
            <a:endParaRPr lang="es-ES" sz="700" dirty="0"/>
          </a:p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Scoring crediticio alternativo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Antes: solo se usaban nómina, historial bancario y DNI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Ahora: comportamiento en redes, pagos de servicios, geolocalización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BBVA en España usa Big Data para incluir a más clientes sin historial</a:t>
            </a:r>
          </a:p>
        </p:txBody>
      </p:sp>
      <p:sp>
        <p:nvSpPr>
          <p:cNvPr id="9" name="Shape 6"/>
          <p:cNvSpPr/>
          <p:nvPr/>
        </p:nvSpPr>
        <p:spPr>
          <a:xfrm>
            <a:off x="4709160" y="914400"/>
            <a:ext cx="411480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4709160" y="914400"/>
            <a:ext cx="54864" cy="3063240"/>
          </a:xfrm>
          <a:prstGeom prst="rect">
            <a:avLst/>
          </a:prstGeom>
          <a:solidFill>
            <a:srgbClr val="007A76"/>
          </a:solidFill>
          <a:ln w="12700">
            <a:solidFill>
              <a:srgbClr val="007A7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4764024" y="914400"/>
            <a:ext cx="4014216" cy="30632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Trading algorítmico (HFT)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Se ejecutan millones de operaciones por segundo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Decisiones tomadas en microsegundos con datos de mercado global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El 60-70% del volumen de la bolsa de EEUU es trading algorítmico</a:t>
            </a:r>
          </a:p>
          <a:p>
            <a:pPr>
              <a:buNone/>
            </a:pPr>
            <a:endParaRPr lang="es-ES" sz="700" dirty="0"/>
          </a:p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Gestión del riesgo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Modelos predicen quiebras de empresas con meses de antelación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Análisis de correlaciones entre activos en tiempo real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JP Morgan procesa 12.000 millones de eventos al día</a:t>
            </a:r>
          </a:p>
        </p:txBody>
      </p:sp>
      <p:sp>
        <p:nvSpPr>
          <p:cNvPr id="12" name="Shape 9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274320" y="48326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Impulso_06  ·  Formación y Futuro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138160" y="48326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3152"/>
            <a:ext cx="1298448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" y="1828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Big Data en Sanidad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04672"/>
            <a:ext cx="8595360" cy="22860"/>
          </a:xfrm>
          <a:prstGeom prst="rect">
            <a:avLst/>
          </a:prstGeom>
          <a:solidFill>
            <a:srgbClr val="C8ECEA"/>
          </a:solidFill>
          <a:ln w="12700">
            <a:solidFill>
              <a:srgbClr val="C8EC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320040" y="914400"/>
            <a:ext cx="850392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320040" y="914400"/>
            <a:ext cx="54864" cy="306324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347472" y="914400"/>
            <a:ext cx="8430768" cy="30632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r>
              <a:rPr lang="es-ES" sz="1600" b="1" dirty="0">
                <a:solidFill>
                  <a:srgbClr val="007A76"/>
                </a:solidFill>
                <a:latin typeface="Calibri"/>
              </a:rPr>
              <a:t>Diagnóstico asistido por IA</a:t>
            </a:r>
          </a:p>
          <a:p>
            <a:pPr marL="342900" indent="-228600">
              <a:buChar char="•"/>
            </a:pPr>
            <a:r>
              <a:rPr lang="es-ES" sz="1400" dirty="0">
                <a:solidFill>
                  <a:srgbClr val="333333"/>
                </a:solidFill>
                <a:latin typeface="Calibri"/>
              </a:rPr>
              <a:t>Google DeepMind detecta 50+ enfermedades en retinografías con precisión de oftalmólogo</a:t>
            </a:r>
          </a:p>
          <a:p>
            <a:pPr marL="342900" indent="-228600">
              <a:buChar char="•"/>
            </a:pPr>
            <a:r>
              <a:rPr lang="es-ES" sz="1400" dirty="0">
                <a:solidFill>
                  <a:srgbClr val="333333"/>
                </a:solidFill>
                <a:latin typeface="Calibri"/>
              </a:rPr>
              <a:t>IBM Watson oncología analiza miles de artículos científicos para proponer tratamientos</a:t>
            </a:r>
          </a:p>
          <a:p>
            <a:pPr marL="342900" indent="-228600">
              <a:buChar char="•"/>
            </a:pPr>
            <a:r>
              <a:rPr lang="es-ES" sz="1400" dirty="0">
                <a:solidFill>
                  <a:srgbClr val="333333"/>
                </a:solidFill>
                <a:latin typeface="Calibri"/>
              </a:rPr>
              <a:t>En España: el Hospital La Fe (Valencia) usa IA para detectar sepsis 6 horas antes</a:t>
            </a:r>
          </a:p>
          <a:p>
            <a:pPr>
              <a:buNone/>
            </a:pPr>
            <a:endParaRPr lang="es-ES" sz="800" dirty="0"/>
          </a:p>
          <a:p>
            <a:pPr marL="228600" indent="-228600">
              <a:buNone/>
            </a:pPr>
            <a:r>
              <a:rPr lang="es-ES" sz="1600" b="1" dirty="0">
                <a:solidFill>
                  <a:srgbClr val="007A76"/>
                </a:solidFill>
                <a:latin typeface="Calibri"/>
              </a:rPr>
              <a:t>Predicción de epidemias y salud pública</a:t>
            </a:r>
          </a:p>
          <a:p>
            <a:pPr marL="342900" indent="-228600">
              <a:buChar char="•"/>
            </a:pPr>
            <a:r>
              <a:rPr lang="es-ES" sz="1400" dirty="0">
                <a:solidFill>
                  <a:srgbClr val="333333"/>
                </a:solidFill>
                <a:latin typeface="Calibri"/>
              </a:rPr>
              <a:t>Durante COVID-19: modelos de Big Data predijeron la expansión con 2 semanas de antelación</a:t>
            </a:r>
          </a:p>
          <a:p>
            <a:pPr marL="342900" indent="-228600">
              <a:buChar char="•"/>
            </a:pPr>
            <a:r>
              <a:rPr lang="es-ES" sz="1400" dirty="0">
                <a:solidFill>
                  <a:srgbClr val="333333"/>
                </a:solidFill>
                <a:latin typeface="Calibri"/>
              </a:rPr>
              <a:t>Google Flu Trends (2008): primera vez que Big Data superó al CDC en velocidad</a:t>
            </a:r>
          </a:p>
          <a:p>
            <a:pPr marL="342900" indent="-228600">
              <a:buChar char="•"/>
            </a:pPr>
            <a:r>
              <a:rPr lang="es-ES" sz="1400" dirty="0">
                <a:solidFill>
                  <a:srgbClr val="333333"/>
                </a:solidFill>
                <a:latin typeface="Calibri"/>
              </a:rPr>
              <a:t>Ahora: sistemas de vigilancia epidemiológica en tiempo real en toda la UE</a:t>
            </a:r>
          </a:p>
          <a:p>
            <a:pPr>
              <a:buNone/>
            </a:pPr>
            <a:endParaRPr lang="es-ES" sz="800" dirty="0"/>
          </a:p>
          <a:p>
            <a:pPr marL="228600" indent="-228600">
              <a:buNone/>
            </a:pPr>
            <a:r>
              <a:rPr lang="es-ES" sz="1600" b="1" dirty="0">
                <a:solidFill>
                  <a:srgbClr val="007A76"/>
                </a:solidFill>
                <a:latin typeface="Calibri"/>
              </a:rPr>
              <a:t>Medicina personalizada (Precision Medicine)</a:t>
            </a:r>
          </a:p>
          <a:p>
            <a:pPr marL="342900" indent="-228600">
              <a:buChar char="•"/>
            </a:pPr>
            <a:r>
              <a:rPr lang="es-ES" sz="1400" dirty="0">
                <a:solidFill>
                  <a:srgbClr val="333333"/>
                </a:solidFill>
                <a:latin typeface="Calibri"/>
              </a:rPr>
              <a:t>Secuenciación del genoma + historial clínico + hábitos → tratamiento 100% personalizado</a:t>
            </a:r>
          </a:p>
          <a:p>
            <a:pPr marL="342900" indent="-228600">
              <a:buChar char="•"/>
            </a:pPr>
            <a:r>
              <a:rPr lang="es-ES" sz="1400" dirty="0">
                <a:solidFill>
                  <a:srgbClr val="333333"/>
                </a:solidFill>
                <a:latin typeface="Calibri"/>
              </a:rPr>
              <a:t>El proyecto 100.000 Genomas del NHS (UK) cambió los protocolos de cáncer infantil</a:t>
            </a:r>
          </a:p>
          <a:p>
            <a:pPr marL="342900" indent="-228600">
              <a:buChar char="•"/>
            </a:pPr>
            <a:r>
              <a:rPr lang="es-ES" sz="1400" dirty="0">
                <a:solidFill>
                  <a:srgbClr val="333333"/>
                </a:solidFill>
                <a:latin typeface="Calibri"/>
              </a:rPr>
              <a:t>Reto ético: ¿quién es dueño de los datos de salud?</a:t>
            </a:r>
          </a:p>
        </p:txBody>
      </p:sp>
      <p:sp>
        <p:nvSpPr>
          <p:cNvPr id="9" name="Shape 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274320" y="48326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Impulso_06  ·  Formación y Futuro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138160" y="48326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3152"/>
            <a:ext cx="1298448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" y="1828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Big Data en Telecomunicaciones y otros sectores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04672"/>
            <a:ext cx="8595360" cy="22860"/>
          </a:xfrm>
          <a:prstGeom prst="rect">
            <a:avLst/>
          </a:prstGeom>
          <a:solidFill>
            <a:srgbClr val="C8ECEA"/>
          </a:solidFill>
          <a:ln w="12700">
            <a:solidFill>
              <a:srgbClr val="C8EC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320040" y="914400"/>
            <a:ext cx="411480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320040" y="914400"/>
            <a:ext cx="54864" cy="306324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914400"/>
            <a:ext cx="3931920" cy="30632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Telecomunicaciones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Análisis de la red en tiempo real: millones de llamadas/datos simultáneos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Predicción de churning: detectar qué cliente va a darse de baja antes de que ocurra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Caso: Telefónica usa Big Data para personalizar tarifas y reducir fuga de clientes</a:t>
            </a:r>
          </a:p>
          <a:p>
            <a:pPr>
              <a:buNone/>
            </a:pPr>
            <a:endParaRPr lang="es-ES" sz="700"/>
          </a:p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Transporte y Logística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UPS optimiza rutas con ORION: 100 millones de km menos al año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Ahorro: 10 millones de galones de combustible · 100.000 Tm de CO2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Uber / Cabify: precios dinámicos calculados con demanda en tiempo real</a:t>
            </a:r>
          </a:p>
        </p:txBody>
      </p:sp>
      <p:sp>
        <p:nvSpPr>
          <p:cNvPr id="9" name="Shape 6"/>
          <p:cNvSpPr/>
          <p:nvPr/>
        </p:nvSpPr>
        <p:spPr>
          <a:xfrm>
            <a:off x="4709160" y="914400"/>
            <a:ext cx="411480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4709160" y="914400"/>
            <a:ext cx="54864" cy="3063240"/>
          </a:xfrm>
          <a:prstGeom prst="rect">
            <a:avLst/>
          </a:prstGeom>
          <a:solidFill>
            <a:srgbClr val="007A76"/>
          </a:solidFill>
          <a:ln w="12700">
            <a:solidFill>
              <a:srgbClr val="007A7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4846320" y="914400"/>
            <a:ext cx="3931920" cy="30632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Energía y Utilities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Smart grids: predicción de consumo eléctrico hora a hora por zona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Iberdrola analiza millones de lecturas de contadores inteligentes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Detección de fraude eléctrico: consumos anómalos en tiempo real</a:t>
            </a:r>
          </a:p>
          <a:p>
            <a:pPr>
              <a:buNone/>
            </a:pPr>
            <a:endParaRPr lang="es-ES" sz="700" dirty="0"/>
          </a:p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Agricultura de precisión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Sensores en el campo + datos meteorológicos + imágenes satélites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Predicción de cosechas, optimización de riego y fertilizantes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John Deere: tractores con Big Data integrado de fábrica</a:t>
            </a:r>
          </a:p>
        </p:txBody>
      </p:sp>
      <p:sp>
        <p:nvSpPr>
          <p:cNvPr id="12" name="Shape 9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274320" y="48326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Impulso_06  ·  Formación y Futuro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138160" y="48326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3152"/>
            <a:ext cx="1298448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" y="1828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El Stack Tecnológico Big Data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04672"/>
            <a:ext cx="8595360" cy="22860"/>
          </a:xfrm>
          <a:prstGeom prst="rect">
            <a:avLst/>
          </a:prstGeom>
          <a:solidFill>
            <a:srgbClr val="C8ECEA"/>
          </a:solidFill>
          <a:ln w="12700">
            <a:solidFill>
              <a:srgbClr val="C8EC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320040" y="960120"/>
            <a:ext cx="27432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320040" y="960120"/>
            <a:ext cx="54864" cy="301752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960120"/>
            <a:ext cx="2560320" cy="3017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endParaRPr lang="es-ES" sz="1400" b="1" dirty="0">
              <a:solidFill>
                <a:srgbClr val="007A76"/>
              </a:solidFill>
              <a:latin typeface="Calibri"/>
            </a:endParaRPr>
          </a:p>
          <a:p>
            <a:pPr marL="228600" indent="-228600">
              <a:buNone/>
            </a:pPr>
            <a:endParaRPr lang="es-ES" sz="1400" b="1" dirty="0">
              <a:solidFill>
                <a:srgbClr val="007A76"/>
              </a:solidFill>
              <a:latin typeface="Calibri"/>
            </a:endParaRPr>
          </a:p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🐘 Apache Hadoop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Framework de almacenamiento distribuido (HDFS)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Motor de procesamiento: MapReduce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Diseñado para petabytes en hardware barato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Nacido en Google/Yahoo (2006), ahora Apache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→ Fortaleza: tolerancia a fallos y escalabilidad</a:t>
            </a:r>
          </a:p>
        </p:txBody>
      </p:sp>
      <p:sp>
        <p:nvSpPr>
          <p:cNvPr id="9" name="Shape 6"/>
          <p:cNvSpPr/>
          <p:nvPr/>
        </p:nvSpPr>
        <p:spPr>
          <a:xfrm>
            <a:off x="1371600" y="850392"/>
            <a:ext cx="640080" cy="347472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1371600" y="8503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960120"/>
            <a:ext cx="27432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3246120" y="960120"/>
            <a:ext cx="54864" cy="301752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3383280" y="960120"/>
            <a:ext cx="2560320" cy="3017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endParaRPr lang="es-ES" sz="1400" b="1" dirty="0">
              <a:solidFill>
                <a:srgbClr val="007A76"/>
              </a:solidFill>
              <a:latin typeface="Calibri"/>
            </a:endParaRPr>
          </a:p>
          <a:p>
            <a:pPr marL="228600" indent="-228600">
              <a:buNone/>
            </a:pPr>
            <a:endParaRPr lang="es-ES" sz="1400" b="1" dirty="0">
              <a:solidFill>
                <a:srgbClr val="007A76"/>
              </a:solidFill>
              <a:latin typeface="Calibri"/>
            </a:endParaRPr>
          </a:p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⚡ Apache Spark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Procesamiento en memoria: 100x más rápido que Hadoop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Soporta: batch, streaming, ML y grafos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Scala es su lenguaje nativo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La API más usada en la industria hoy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→ Nuestro protagonista durante el curso</a:t>
            </a:r>
          </a:p>
        </p:txBody>
      </p:sp>
      <p:sp>
        <p:nvSpPr>
          <p:cNvPr id="14" name="Shape 11"/>
          <p:cNvSpPr/>
          <p:nvPr/>
        </p:nvSpPr>
        <p:spPr>
          <a:xfrm>
            <a:off x="4297680" y="850392"/>
            <a:ext cx="640080" cy="347472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4297680" y="8503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72200" y="960120"/>
            <a:ext cx="27432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6172200" y="960120"/>
            <a:ext cx="54864" cy="301752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6309360" y="960120"/>
            <a:ext cx="2560320" cy="3017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endParaRPr lang="es-ES" sz="1400" b="1" dirty="0">
              <a:solidFill>
                <a:srgbClr val="007A76"/>
              </a:solidFill>
              <a:latin typeface="Calibri"/>
            </a:endParaRPr>
          </a:p>
          <a:p>
            <a:pPr marL="228600" indent="-228600">
              <a:buNone/>
            </a:pPr>
            <a:endParaRPr lang="es-ES" sz="1400" b="1" dirty="0">
              <a:solidFill>
                <a:srgbClr val="007A76"/>
              </a:solidFill>
              <a:latin typeface="Calibri"/>
            </a:endParaRPr>
          </a:p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🌊 Apache Kafka + Hive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Kafka: sistema de mensajería distribuida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Ingesta millones de eventos/seg en tiempo real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Hive: SQL sobre datos en HDFS/S3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Permite a analistas usar SQL estándar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→ Kafka = autopista de datos · Hive = acceso SQL</a:t>
            </a:r>
          </a:p>
        </p:txBody>
      </p:sp>
      <p:sp>
        <p:nvSpPr>
          <p:cNvPr id="19" name="Shape 16"/>
          <p:cNvSpPr/>
          <p:nvPr/>
        </p:nvSpPr>
        <p:spPr>
          <a:xfrm>
            <a:off x="7223760" y="850392"/>
            <a:ext cx="640080" cy="347472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7223760" y="8503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274320" y="48326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Impulso_06  ·  Formación y Futuro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138160" y="48326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3152"/>
            <a:ext cx="1298448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" y="1828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¿Por qué Spark es el motor central?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734337"/>
            <a:ext cx="8595360" cy="22860"/>
          </a:xfrm>
          <a:prstGeom prst="rect">
            <a:avLst/>
          </a:prstGeom>
          <a:solidFill>
            <a:srgbClr val="C8ECEA"/>
          </a:solidFill>
          <a:ln w="12700">
            <a:solidFill>
              <a:srgbClr val="C8EC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320040" y="793773"/>
            <a:ext cx="8503920" cy="3947391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320040" y="914399"/>
            <a:ext cx="54864" cy="3785615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374904" y="731520"/>
            <a:ext cx="8449056" cy="34427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Problema de Hadoop MapReduce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Cada paso de procesamiento escribe resultados en disco (HDFS)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Para algoritmos iterativos (como Machine Learning): lentísimo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Ejemplo: un modelo de ML con 10 iteraciones → 10 escrituras en disco</a:t>
            </a:r>
          </a:p>
          <a:p>
            <a:pPr marL="342900" indent="-228600">
              <a:buChar char="•"/>
            </a:pPr>
            <a:endParaRPr lang="es-ES" sz="1300" dirty="0">
              <a:solidFill>
                <a:srgbClr val="333333"/>
              </a:solidFill>
              <a:latin typeface="Calibri"/>
            </a:endParaRPr>
          </a:p>
          <a:p>
            <a:pPr>
              <a:buNone/>
            </a:pPr>
            <a:endParaRPr lang="es-ES" sz="700" dirty="0"/>
          </a:p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La solución de Spark: procesamiento en memoria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Los datos intermedios se guardan en RAM, no en disco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Resultado: 10x-100x más rápido que MapReduce en batch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En streaming: latencia de milisegundos vs. Minutos</a:t>
            </a:r>
          </a:p>
          <a:p>
            <a:pPr marL="342900" indent="-228600">
              <a:buChar char="•"/>
            </a:pPr>
            <a:endParaRPr lang="es-ES" sz="1300" dirty="0">
              <a:solidFill>
                <a:srgbClr val="333333"/>
              </a:solidFill>
              <a:latin typeface="Calibri"/>
            </a:endParaRPr>
          </a:p>
          <a:p>
            <a:pPr>
              <a:buNone/>
            </a:pPr>
            <a:endParaRPr lang="es-ES" sz="700" dirty="0"/>
          </a:p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Spark es una navaja suiza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Spark Core → procesamiento distribuido (RDDs, DataFrames)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Spark SQL → consultas con sintaxis SQL estándar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Spark Streaming → análisis en tiempo real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MLlib → machine learning distribuido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GraphX → análisis de grafos (redes sociales, rutas)</a:t>
            </a:r>
          </a:p>
          <a:p>
            <a:pPr>
              <a:buNone/>
            </a:pPr>
            <a:endParaRPr lang="es-ES" sz="700" dirty="0"/>
          </a:p>
          <a:p>
            <a:pPr marL="114300" algn="ctr"/>
            <a:r>
              <a:rPr lang="es-ES" sz="1600" dirty="0">
                <a:solidFill>
                  <a:srgbClr val="333333"/>
                </a:solidFill>
                <a:latin typeface="Calibri"/>
              </a:rPr>
              <a:t>En este curso aprenderemos Spark Core + Spark SQL + MLlib con Scala.</a:t>
            </a:r>
          </a:p>
        </p:txBody>
      </p:sp>
      <p:sp>
        <p:nvSpPr>
          <p:cNvPr id="9" name="Shape 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274320" y="48326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Impulso_06  ·  Formación y Futuro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138160" y="48326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E503B1-A4F4-1A99-9750-0D580E2D3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93FDEB-D484-7BE1-8DAC-B330B141F256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38EE035-9C55-09EB-B71C-DBD3F277B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510" y="73152"/>
            <a:ext cx="1037337" cy="474837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D94193B-3A9E-0143-69CB-E2753CE29444}"/>
              </a:ext>
            </a:extLst>
          </p:cNvPr>
          <p:cNvSpPr/>
          <p:nvPr/>
        </p:nvSpPr>
        <p:spPr>
          <a:xfrm>
            <a:off x="347472" y="203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¿Por qué Spark es el motor central?</a:t>
            </a:r>
            <a:endParaRPr lang="en-US" sz="24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2FBDDC2-78DE-4C8C-F66C-CBA096042355}"/>
              </a:ext>
            </a:extLst>
          </p:cNvPr>
          <p:cNvSpPr/>
          <p:nvPr/>
        </p:nvSpPr>
        <p:spPr>
          <a:xfrm>
            <a:off x="320040" y="914399"/>
            <a:ext cx="54864" cy="3785615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5ACC070-3F66-5CF7-210C-1EBE91582F28}"/>
              </a:ext>
            </a:extLst>
          </p:cNvPr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FB3EE75-483C-A530-C29A-64491364FEAC}"/>
              </a:ext>
            </a:extLst>
          </p:cNvPr>
          <p:cNvSpPr/>
          <p:nvPr/>
        </p:nvSpPr>
        <p:spPr>
          <a:xfrm>
            <a:off x="274320" y="48326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Impulso_06  ·  Formación y Futuro</a:t>
            </a:r>
            <a:endParaRPr lang="en-US" sz="8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28EDD54-B7BD-0E74-3F20-893D468B4F21}"/>
              </a:ext>
            </a:extLst>
          </p:cNvPr>
          <p:cNvSpPr/>
          <p:nvPr/>
        </p:nvSpPr>
        <p:spPr>
          <a:xfrm>
            <a:off x="8138160" y="48326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8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24C4706-A3AD-D9B8-4D63-37885D3C0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56" y="547989"/>
            <a:ext cx="7589654" cy="422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950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3152"/>
            <a:ext cx="1298448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Casos de Éxito Reales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04672"/>
            <a:ext cx="8595360" cy="22860"/>
          </a:xfrm>
          <a:prstGeom prst="rect">
            <a:avLst/>
          </a:prstGeom>
          <a:solidFill>
            <a:srgbClr val="C8ECEA"/>
          </a:solidFill>
          <a:ln w="12700">
            <a:solidFill>
              <a:srgbClr val="C8EC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320040" y="914400"/>
            <a:ext cx="8503920" cy="708660"/>
          </a:xfrm>
          <a:prstGeom prst="rect">
            <a:avLst/>
          </a:prstGeom>
          <a:solidFill>
            <a:srgbClr val="E6FAFA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02920" y="914400"/>
            <a:ext cx="8229600" cy="6858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114300" algn="ctr"/>
            <a:r>
              <a:rPr lang="es-ES" dirty="0">
                <a:solidFill>
                  <a:srgbClr val="333333"/>
                </a:solidFill>
                <a:latin typeface="Calibri"/>
              </a:rPr>
              <a:t>Empresas que transformaron su negocio gracias al procesamiento inteligente de datos masivos:</a:t>
            </a:r>
          </a:p>
        </p:txBody>
      </p:sp>
      <p:sp>
        <p:nvSpPr>
          <p:cNvPr id="8" name="Shape 5"/>
          <p:cNvSpPr/>
          <p:nvPr/>
        </p:nvSpPr>
        <p:spPr>
          <a:xfrm>
            <a:off x="320040" y="1783080"/>
            <a:ext cx="2651760" cy="2916936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329184" y="1783080"/>
            <a:ext cx="45719" cy="2916936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457200" y="1852246"/>
            <a:ext cx="2468880" cy="284777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🎬 Netflix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Procesa 500 millones de eventos/día de comportamiento de usuarios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El 80% del contenido que ves lo elige el algoritmo, no tú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Ahorró 1.000M$/año en cancelaciones gracias a recomendaciones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Tecnología: Spark + Kafka + Cassandra + AWS</a:t>
            </a:r>
          </a:p>
        </p:txBody>
      </p:sp>
      <p:sp>
        <p:nvSpPr>
          <p:cNvPr id="11" name="Shape 8"/>
          <p:cNvSpPr/>
          <p:nvPr/>
        </p:nvSpPr>
        <p:spPr>
          <a:xfrm>
            <a:off x="3246120" y="1783080"/>
            <a:ext cx="2651760" cy="2916936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3246120" y="1783080"/>
            <a:ext cx="91440" cy="2916936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3337560" y="1852245"/>
            <a:ext cx="2514600" cy="284777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🚗 Tesla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Cada coche envía millones de km de datos de conducción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Mejora el piloto automático con datos reales en tiempo real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Flota de 3M+ vehículos = el mayor dataset de conducción del mundo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Tecnología: Spark Streaming + ML + almacenamiento propio</a:t>
            </a:r>
          </a:p>
        </p:txBody>
      </p:sp>
      <p:sp>
        <p:nvSpPr>
          <p:cNvPr id="14" name="Shape 11"/>
          <p:cNvSpPr/>
          <p:nvPr/>
        </p:nvSpPr>
        <p:spPr>
          <a:xfrm>
            <a:off x="6217920" y="1783080"/>
            <a:ext cx="2651760" cy="2916936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6172200" y="1852246"/>
            <a:ext cx="91440" cy="2847770"/>
          </a:xfrm>
          <a:prstGeom prst="rect">
            <a:avLst/>
          </a:prstGeom>
          <a:solidFill>
            <a:srgbClr val="007A76"/>
          </a:solidFill>
          <a:ln w="12700">
            <a:solidFill>
              <a:srgbClr val="007A7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6172200" y="1852245"/>
            <a:ext cx="2606040" cy="284777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🛍️ Mercadona (España)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Analiza el ticket de compra de 5 millones de clientes diarios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Optimiza el lineal: cada producto en su posición exacta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Reduce merma alimentaria un 18% con predicción de caducidades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Tecnología: stack Big Data propio + integración con proveedores</a:t>
            </a:r>
          </a:p>
        </p:txBody>
      </p:sp>
      <p:sp>
        <p:nvSpPr>
          <p:cNvPr id="17" name="Shape 14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274320" y="48326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Impulso_06  ·  Formación y Futuro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138160" y="48326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3152"/>
            <a:ext cx="1298448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" y="1828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Los Datos como Activo Estratégico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04672"/>
            <a:ext cx="8595360" cy="22860"/>
          </a:xfrm>
          <a:prstGeom prst="rect">
            <a:avLst/>
          </a:prstGeom>
          <a:solidFill>
            <a:srgbClr val="C8ECEA"/>
          </a:solidFill>
          <a:ln w="12700">
            <a:solidFill>
              <a:srgbClr val="C8EC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320040" y="914400"/>
            <a:ext cx="8503920" cy="3785616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320040" y="914400"/>
            <a:ext cx="54864" cy="3785616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964692"/>
            <a:ext cx="8321040" cy="36713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El nuevo petróleo del siglo XXI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En 2006, el matemático Clive Humby acuñó la frase: "Los datos son el nuevo petróleo"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Sin refinería (procesamiento), el petróleo bruto no vale nada — igual que los datos crudos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Las empresas más valiosas del mundo (Apple, Google, Amazon, Meta) son empresas de datos</a:t>
            </a:r>
          </a:p>
          <a:p>
            <a:pPr marL="114300"/>
            <a:endParaRPr lang="es-ES" sz="1300" dirty="0">
              <a:solidFill>
                <a:srgbClr val="333333"/>
              </a:solidFill>
              <a:latin typeface="Calibri"/>
            </a:endParaRPr>
          </a:p>
          <a:p>
            <a:pPr>
              <a:buNone/>
            </a:pPr>
            <a:endParaRPr lang="es-ES" sz="700" dirty="0"/>
          </a:p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Ventajas concretas que aporta Big Data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Decisiones más rápidas y precisas: de semanas a segundos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Nuevas líneas de negocio: monetizar datos propios como producto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Reducción de costes operativos: mantenimiento predictivo, logística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Personalización masiva: experiencia individual a escala de millones</a:t>
            </a:r>
          </a:p>
          <a:p>
            <a:pPr marL="114300"/>
            <a:endParaRPr lang="es-ES" sz="1300" dirty="0">
              <a:solidFill>
                <a:srgbClr val="333333"/>
              </a:solidFill>
              <a:latin typeface="Calibri"/>
            </a:endParaRPr>
          </a:p>
          <a:p>
            <a:pPr>
              <a:buNone/>
            </a:pPr>
            <a:endParaRPr lang="es-ES" sz="700" dirty="0"/>
          </a:p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El reto: pasar de datos a valor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Datos crudos → limpieza → transformación → análisis → decisión → valor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Este pipeline es exactamente lo que aprenderemos a construir en este curso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Con Scala + Spark construiremos pipelines que procesan millones de registros</a:t>
            </a:r>
          </a:p>
        </p:txBody>
      </p:sp>
      <p:sp>
        <p:nvSpPr>
          <p:cNvPr id="9" name="Shape 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274320" y="48326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Impulso_06  ·  Formación y Futuro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138160" y="48326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3152"/>
            <a:ext cx="1298448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" y="1828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Resumen del Bloque Teórico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04672"/>
            <a:ext cx="8595360" cy="22860"/>
          </a:xfrm>
          <a:prstGeom prst="rect">
            <a:avLst/>
          </a:prstGeom>
          <a:solidFill>
            <a:srgbClr val="C8ECEA"/>
          </a:solidFill>
          <a:ln w="12700">
            <a:solidFill>
              <a:srgbClr val="C8EC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320040" y="960120"/>
            <a:ext cx="27432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320040" y="960120"/>
            <a:ext cx="54864" cy="301752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960120"/>
            <a:ext cx="2560320" cy="3017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endParaRPr lang="es-ES" sz="1400" b="1" dirty="0">
              <a:solidFill>
                <a:srgbClr val="007A76"/>
              </a:solidFill>
              <a:latin typeface="Calibri"/>
            </a:endParaRPr>
          </a:p>
          <a:p>
            <a:pPr marL="228600" indent="-228600">
              <a:buNone/>
            </a:pPr>
            <a:endParaRPr lang="es-ES" sz="1400" b="1" dirty="0">
              <a:solidFill>
                <a:srgbClr val="007A76"/>
              </a:solidFill>
              <a:latin typeface="Calibri"/>
            </a:endParaRPr>
          </a:p>
          <a:p>
            <a:pPr marL="228600" indent="-228600">
              <a:buNone/>
            </a:pPr>
            <a:endParaRPr lang="es-ES" sz="1400" b="1" dirty="0">
              <a:solidFill>
                <a:srgbClr val="007A76"/>
              </a:solidFill>
              <a:latin typeface="Calibri"/>
            </a:endParaRPr>
          </a:p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Big Data por Sector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Retail: stock, recomendación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Finanzas: fraude, scoring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Sanidad: IA, epidemias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Telco: churn, red en tiempo real</a:t>
            </a:r>
          </a:p>
        </p:txBody>
      </p:sp>
      <p:sp>
        <p:nvSpPr>
          <p:cNvPr id="9" name="Shape 6"/>
          <p:cNvSpPr/>
          <p:nvPr/>
        </p:nvSpPr>
        <p:spPr>
          <a:xfrm>
            <a:off x="1371600" y="850392"/>
            <a:ext cx="640080" cy="347472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1371600" y="8503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960120"/>
            <a:ext cx="27432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3246120" y="960120"/>
            <a:ext cx="54864" cy="301752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3383280" y="960120"/>
            <a:ext cx="2560320" cy="3017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endParaRPr lang="es-ES" sz="1400" b="1" dirty="0">
              <a:solidFill>
                <a:srgbClr val="007A76"/>
              </a:solidFill>
              <a:latin typeface="Calibri"/>
            </a:endParaRPr>
          </a:p>
          <a:p>
            <a:pPr marL="228600" indent="-228600">
              <a:buNone/>
            </a:pPr>
            <a:endParaRPr lang="es-ES" sz="1400" b="1" dirty="0">
              <a:solidFill>
                <a:srgbClr val="007A76"/>
              </a:solidFill>
              <a:latin typeface="Calibri"/>
            </a:endParaRPr>
          </a:p>
          <a:p>
            <a:pPr marL="228600" indent="-228600">
              <a:buNone/>
            </a:pPr>
            <a:endParaRPr lang="es-ES" sz="1400" b="1" dirty="0">
              <a:solidFill>
                <a:srgbClr val="007A76"/>
              </a:solidFill>
              <a:latin typeface="Calibri"/>
            </a:endParaRPr>
          </a:p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El Stack Tecnológico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Hadoop → almacenamiento masivo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Spark → procesamiento rapido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Kafka → mensajeria en tiempo real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Hive → SQL sobre Big Data</a:t>
            </a:r>
          </a:p>
        </p:txBody>
      </p:sp>
      <p:sp>
        <p:nvSpPr>
          <p:cNvPr id="14" name="Shape 11"/>
          <p:cNvSpPr/>
          <p:nvPr/>
        </p:nvSpPr>
        <p:spPr>
          <a:xfrm>
            <a:off x="4297680" y="850392"/>
            <a:ext cx="640080" cy="347472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4297680" y="8503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72200" y="960120"/>
            <a:ext cx="27432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6172200" y="960120"/>
            <a:ext cx="54864" cy="301752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6309360" y="960120"/>
            <a:ext cx="2560320" cy="3017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endParaRPr lang="es-ES" sz="1400" b="1" dirty="0">
              <a:solidFill>
                <a:srgbClr val="007A76"/>
              </a:solidFill>
              <a:latin typeface="Calibri"/>
            </a:endParaRPr>
          </a:p>
          <a:p>
            <a:pPr marL="228600" indent="-228600">
              <a:buNone/>
            </a:pPr>
            <a:endParaRPr lang="es-ES" sz="1400" b="1" dirty="0">
              <a:solidFill>
                <a:srgbClr val="007A76"/>
              </a:solidFill>
              <a:latin typeface="Calibri"/>
            </a:endParaRPr>
          </a:p>
          <a:p>
            <a:pPr marL="228600" indent="-228600">
              <a:buNone/>
            </a:pPr>
            <a:endParaRPr lang="es-ES" sz="1400" b="1" dirty="0">
              <a:solidFill>
                <a:srgbClr val="007A76"/>
              </a:solidFill>
              <a:latin typeface="Calibri"/>
            </a:endParaRPr>
          </a:p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Datos = Valor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Datos crudos sin procesar = 0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Pipeline: ingesta→proceso→análisis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Eso construiremos con Scala+Spark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De datos a decisiones de negocio</a:t>
            </a:r>
          </a:p>
        </p:txBody>
      </p:sp>
      <p:sp>
        <p:nvSpPr>
          <p:cNvPr id="19" name="Shape 16"/>
          <p:cNvSpPr/>
          <p:nvPr/>
        </p:nvSpPr>
        <p:spPr>
          <a:xfrm>
            <a:off x="7223760" y="850392"/>
            <a:ext cx="640080" cy="347472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7223760" y="8503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274320" y="48326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Impulso_06  ·  Formación y Futuro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138160" y="48326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57515" y="18288"/>
            <a:ext cx="1481328" cy="704088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45720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PRÁCTICO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0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guiada · Mapa conceptual · Relacionar herramientas · 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274320" y="48326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Impulso_06  ·  Formación y Futuro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138160" y="48326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B926D31-A93D-2ECB-BE1F-8C58D26B9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264" y="-3429"/>
            <a:ext cx="1188720" cy="7040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3152"/>
            <a:ext cx="1298448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Práctica 1 — Investiga un caso real de Big Data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04672"/>
            <a:ext cx="8595360" cy="22860"/>
          </a:xfrm>
          <a:prstGeom prst="rect">
            <a:avLst/>
          </a:prstGeom>
          <a:solidFill>
            <a:srgbClr val="C8ECEA"/>
          </a:solidFill>
          <a:ln w="12700">
            <a:solidFill>
              <a:srgbClr val="C8EC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320040" y="914400"/>
            <a:ext cx="8503920" cy="734646"/>
          </a:xfrm>
          <a:prstGeom prst="rect">
            <a:avLst/>
          </a:prstGeom>
          <a:solidFill>
            <a:srgbClr val="E6FAFA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02920" y="914400"/>
            <a:ext cx="8229600" cy="73464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114300" algn="ctr"/>
            <a:r>
              <a:rPr lang="es-ES" dirty="0">
                <a:solidFill>
                  <a:srgbClr val="333333"/>
                </a:solidFill>
                <a:latin typeface="Calibri"/>
              </a:rPr>
              <a:t>Cada uno elige UNO de los 3 sectores. Investigar y preparar una presentación de 10 minutos.</a:t>
            </a:r>
          </a:p>
        </p:txBody>
      </p:sp>
      <p:sp>
        <p:nvSpPr>
          <p:cNvPr id="8" name="Shape 5"/>
          <p:cNvSpPr/>
          <p:nvPr/>
        </p:nvSpPr>
        <p:spPr>
          <a:xfrm>
            <a:off x="320040" y="2148840"/>
            <a:ext cx="2651760" cy="2551176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320040" y="2148840"/>
            <a:ext cx="54942" cy="2551176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347472" y="2210562"/>
            <a:ext cx="2606040" cy="248945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r>
              <a:rPr lang="es-ES" sz="1600" b="1" dirty="0">
                <a:solidFill>
                  <a:srgbClr val="007A76"/>
                </a:solidFill>
                <a:latin typeface="Calibri"/>
              </a:rPr>
              <a:t>🏥 Sector A: Sanidad</a:t>
            </a:r>
          </a:p>
          <a:p>
            <a:pPr marL="342900" indent="-228600">
              <a:buChar char="•"/>
            </a:pPr>
            <a:r>
              <a:rPr lang="es-ES" sz="1400" dirty="0">
                <a:solidFill>
                  <a:srgbClr val="333333"/>
                </a:solidFill>
                <a:latin typeface="Calibri"/>
              </a:rPr>
              <a:t>¿Qué datos se generan en un hospital moderno?</a:t>
            </a:r>
          </a:p>
          <a:p>
            <a:pPr marL="342900" indent="-228600">
              <a:buChar char="•"/>
            </a:pPr>
            <a:r>
              <a:rPr lang="es-ES" sz="1400" dirty="0">
                <a:solidFill>
                  <a:srgbClr val="333333"/>
                </a:solidFill>
                <a:latin typeface="Calibri"/>
              </a:rPr>
              <a:t>¿Cómo ayuda Big Data al diagnóstico o a la gestión?</a:t>
            </a:r>
          </a:p>
          <a:p>
            <a:pPr marL="342900" indent="-228600">
              <a:buChar char="•"/>
            </a:pPr>
            <a:r>
              <a:rPr lang="es-ES" sz="1400" dirty="0">
                <a:solidFill>
                  <a:srgbClr val="333333"/>
                </a:solidFill>
                <a:latin typeface="Calibri"/>
              </a:rPr>
              <a:t>Busca un caso real en España o Europa</a:t>
            </a:r>
          </a:p>
          <a:p>
            <a:pPr marL="342900" indent="-228600">
              <a:buChar char="•"/>
            </a:pPr>
            <a:r>
              <a:rPr lang="es-ES" sz="1400" dirty="0">
                <a:solidFill>
                  <a:srgbClr val="333333"/>
                </a:solidFill>
                <a:latin typeface="Calibri"/>
              </a:rPr>
              <a:t>¿Qué herramienta del stack usaría este hospital?</a:t>
            </a:r>
          </a:p>
        </p:txBody>
      </p:sp>
      <p:sp>
        <p:nvSpPr>
          <p:cNvPr id="11" name="Shape 8"/>
          <p:cNvSpPr/>
          <p:nvPr/>
        </p:nvSpPr>
        <p:spPr>
          <a:xfrm>
            <a:off x="3246120" y="2148840"/>
            <a:ext cx="2651760" cy="2477868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3246120" y="2148839"/>
            <a:ext cx="91440" cy="2477867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3383280" y="2148840"/>
            <a:ext cx="2468880" cy="1691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🏭 Sector B: Industria / Manufactura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¿Qué es el mantenimiento predictivo con Big Data?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¿Qué datos genera una fábrica conectada (IoT)?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Busca un caso real: Siemens, Airbus, SEAT...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¿Qué herramienta del stack usaría esta fábrica?</a:t>
            </a:r>
          </a:p>
        </p:txBody>
      </p:sp>
      <p:sp>
        <p:nvSpPr>
          <p:cNvPr id="14" name="Shape 11"/>
          <p:cNvSpPr/>
          <p:nvPr/>
        </p:nvSpPr>
        <p:spPr>
          <a:xfrm>
            <a:off x="6172200" y="2148840"/>
            <a:ext cx="2651760" cy="2487168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6172200" y="2148840"/>
            <a:ext cx="91440" cy="2477866"/>
          </a:xfrm>
          <a:prstGeom prst="rect">
            <a:avLst/>
          </a:prstGeom>
          <a:solidFill>
            <a:srgbClr val="007A76"/>
          </a:solidFill>
          <a:ln w="12700">
            <a:solidFill>
              <a:srgbClr val="007A7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6309360" y="2148840"/>
            <a:ext cx="2468880" cy="1691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🌆 Sector C: Smart City / Gobierno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¿Qué datos genera una ciudad inteligente?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¿Cómo usa Big Data el transporte público o la seguridad?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Busca un caso real: Barcelona, Madrid, Bilbao...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¿Qué herramienta del stack usaría este ayuntamiento?</a:t>
            </a:r>
          </a:p>
        </p:txBody>
      </p:sp>
      <p:sp>
        <p:nvSpPr>
          <p:cNvPr id="17" name="Shape 14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274320" y="48326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Impulso_06  ·  Formación y Futuro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138160" y="48326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3152"/>
            <a:ext cx="1298448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" y="1828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</a:t>
            </a:r>
            <a:r>
              <a:rPr lang="en-US" sz="24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— Guía paso a paso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04672"/>
            <a:ext cx="8595360" cy="22860"/>
          </a:xfrm>
          <a:prstGeom prst="rect">
            <a:avLst/>
          </a:prstGeom>
          <a:solidFill>
            <a:srgbClr val="C8ECEA"/>
          </a:solidFill>
          <a:ln w="12700">
            <a:solidFill>
              <a:srgbClr val="C8EC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320040" y="914400"/>
            <a:ext cx="8503920" cy="3826764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320040" y="914400"/>
            <a:ext cx="45720" cy="3826764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914400"/>
            <a:ext cx="8321040" cy="38633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r>
              <a:rPr lang="es-ES" b="1" dirty="0">
                <a:solidFill>
                  <a:srgbClr val="007A76"/>
                </a:solidFill>
                <a:latin typeface="Calibri"/>
              </a:rPr>
              <a:t>Paso 1 — Elegid el sector </a:t>
            </a:r>
          </a:p>
          <a:p>
            <a:pPr marL="342900" indent="-228600">
              <a:buChar char="•"/>
            </a:pPr>
            <a:r>
              <a:rPr lang="es-ES" sz="1600" dirty="0">
                <a:solidFill>
                  <a:srgbClr val="333333"/>
                </a:solidFill>
                <a:latin typeface="Calibri"/>
              </a:rPr>
              <a:t>Poneos de acuerdo en pareja: Sanidad, Industria o Smart City</a:t>
            </a:r>
          </a:p>
          <a:p>
            <a:pPr marL="342900" indent="-228600">
              <a:buChar char="•"/>
            </a:pPr>
            <a:r>
              <a:rPr lang="es-ES" sz="1600" dirty="0">
                <a:solidFill>
                  <a:srgbClr val="333333"/>
                </a:solidFill>
                <a:latin typeface="Calibri"/>
              </a:rPr>
              <a:t>Anotad el sector elegido en vuestro bloc de notas</a:t>
            </a:r>
          </a:p>
          <a:p>
            <a:pPr>
              <a:buNone/>
            </a:pPr>
            <a:endParaRPr lang="es-ES" sz="900" dirty="0"/>
          </a:p>
          <a:p>
            <a:pPr marL="228600" indent="-228600">
              <a:buNone/>
            </a:pPr>
            <a:r>
              <a:rPr lang="es-ES" b="1" dirty="0">
                <a:solidFill>
                  <a:srgbClr val="007A76"/>
                </a:solidFill>
                <a:latin typeface="Calibri"/>
              </a:rPr>
              <a:t>Paso 2 — Investigad </a:t>
            </a:r>
          </a:p>
          <a:p>
            <a:pPr marL="342900" indent="-228600">
              <a:buChar char="•"/>
            </a:pPr>
            <a:r>
              <a:rPr lang="es-ES" sz="1600" dirty="0">
                <a:solidFill>
                  <a:srgbClr val="333333"/>
                </a:solidFill>
                <a:latin typeface="Calibri"/>
              </a:rPr>
              <a:t>Buscad en Google: "[vuestro sector] + Big Data + caso real"</a:t>
            </a:r>
          </a:p>
          <a:p>
            <a:pPr marL="342900" indent="-228600">
              <a:buChar char="•"/>
            </a:pPr>
            <a:r>
              <a:rPr lang="es-ES" sz="1600" dirty="0">
                <a:solidFill>
                  <a:srgbClr val="333333"/>
                </a:solidFill>
                <a:latin typeface="Calibri"/>
              </a:rPr>
              <a:t>Fuentes recomendadas: MIT Technology Review, Gartner…</a:t>
            </a:r>
          </a:p>
          <a:p>
            <a:pPr marL="342900" indent="-228600">
              <a:buChar char="•"/>
            </a:pPr>
            <a:r>
              <a:rPr lang="es-ES" sz="1600" dirty="0">
                <a:solidFill>
                  <a:srgbClr val="333333"/>
                </a:solidFill>
                <a:latin typeface="Calibri"/>
              </a:rPr>
              <a:t>Anotad: nombre empresa, dato clave, herramienta usada, resultado obtenido</a:t>
            </a:r>
          </a:p>
          <a:p>
            <a:pPr>
              <a:buNone/>
            </a:pPr>
            <a:endParaRPr lang="es-ES" sz="900" dirty="0"/>
          </a:p>
          <a:p>
            <a:pPr marL="228600" indent="-228600">
              <a:buNone/>
            </a:pPr>
            <a:r>
              <a:rPr lang="es-ES" b="1" dirty="0">
                <a:solidFill>
                  <a:srgbClr val="007A76"/>
                </a:solidFill>
                <a:latin typeface="Calibri"/>
              </a:rPr>
              <a:t>Paso 3 — Preparad la presentación </a:t>
            </a:r>
          </a:p>
          <a:p>
            <a:pPr marL="342900" indent="-228600">
              <a:buChar char="•"/>
            </a:pPr>
            <a:r>
              <a:rPr lang="es-ES" sz="1600" dirty="0">
                <a:solidFill>
                  <a:srgbClr val="333333"/>
                </a:solidFill>
                <a:latin typeface="Calibri"/>
              </a:rPr>
              <a:t>Estructura recomendada para vuestra presentación de 10 min:</a:t>
            </a:r>
          </a:p>
          <a:p>
            <a:pPr marL="342900" indent="-228600">
              <a:buChar char="•"/>
            </a:pPr>
            <a:r>
              <a:rPr lang="es-ES" sz="1600" dirty="0">
                <a:solidFill>
                  <a:srgbClr val="333333"/>
                </a:solidFill>
                <a:latin typeface="Calibri"/>
              </a:rPr>
              <a:t>1. ¿Cuál era el problema antes del Big Data?</a:t>
            </a:r>
          </a:p>
          <a:p>
            <a:pPr marL="342900" indent="-228600">
              <a:buChar char="•"/>
            </a:pPr>
            <a:r>
              <a:rPr lang="es-ES" sz="1600" dirty="0">
                <a:solidFill>
                  <a:srgbClr val="333333"/>
                </a:solidFill>
                <a:latin typeface="Calibri"/>
              </a:rPr>
              <a:t>2. ¿Qué datos se recogen y de dónde?</a:t>
            </a:r>
          </a:p>
          <a:p>
            <a:pPr marL="342900" indent="-228600">
              <a:buChar char="•"/>
            </a:pPr>
            <a:r>
              <a:rPr lang="es-ES" sz="1600" dirty="0">
                <a:solidFill>
                  <a:srgbClr val="333333"/>
                </a:solidFill>
                <a:latin typeface="Calibri"/>
              </a:rPr>
              <a:t>3. ¿Qué herramienta del stack usaron?</a:t>
            </a:r>
          </a:p>
          <a:p>
            <a:pPr marL="342900" indent="-228600">
              <a:buChar char="•"/>
            </a:pPr>
            <a:r>
              <a:rPr lang="es-ES" sz="1600" dirty="0">
                <a:solidFill>
                  <a:srgbClr val="333333"/>
                </a:solidFill>
                <a:latin typeface="Calibri"/>
              </a:rPr>
              <a:t>4. ¿Qué resultado obtuvieron? (número concreto si es posible)</a:t>
            </a:r>
          </a:p>
          <a:p>
            <a:pPr>
              <a:buNone/>
            </a:pPr>
            <a:endParaRPr lang="es-ES" sz="700" dirty="0"/>
          </a:p>
        </p:txBody>
      </p:sp>
      <p:sp>
        <p:nvSpPr>
          <p:cNvPr id="9" name="Shape 6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274320" y="48326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Impulso_06  ·  Formación y Futuro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138160" y="48326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3152"/>
            <a:ext cx="1298448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" y="182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Práctica 2 — Construye el Mapa del Stack Big Data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04672"/>
            <a:ext cx="8595360" cy="22860"/>
          </a:xfrm>
          <a:prstGeom prst="rect">
            <a:avLst/>
          </a:prstGeom>
          <a:solidFill>
            <a:srgbClr val="C8ECEA"/>
          </a:solidFill>
          <a:ln w="12700">
            <a:solidFill>
              <a:srgbClr val="C8EC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320040" y="914400"/>
            <a:ext cx="8503920" cy="500771"/>
          </a:xfrm>
          <a:prstGeom prst="rect">
            <a:avLst/>
          </a:prstGeom>
          <a:solidFill>
            <a:srgbClr val="E6FAFA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02920" y="914399"/>
            <a:ext cx="8229600" cy="48678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114300" algn="ctr"/>
            <a:r>
              <a:rPr lang="es-ES" sz="1600" dirty="0">
                <a:solidFill>
                  <a:srgbClr val="333333"/>
                </a:solidFill>
                <a:latin typeface="Calibri"/>
              </a:rPr>
              <a:t>Podéis usar papel, pizarra, Miro (miro.com), draw.io o cualquier herramienta digital.</a:t>
            </a:r>
          </a:p>
        </p:txBody>
      </p:sp>
      <p:sp>
        <p:nvSpPr>
          <p:cNvPr id="8" name="Shape 5"/>
          <p:cNvSpPr/>
          <p:nvPr/>
        </p:nvSpPr>
        <p:spPr>
          <a:xfrm>
            <a:off x="246888" y="1502039"/>
            <a:ext cx="2832374" cy="3275701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256384" y="1524898"/>
            <a:ext cx="82296" cy="3216266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338680" y="1524898"/>
            <a:ext cx="2740582" cy="317511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Paso 1 — Las capas del mapa </a:t>
            </a:r>
          </a:p>
          <a:p>
            <a:pPr marL="228600" indent="-228600">
              <a:buNone/>
            </a:pPr>
            <a:endParaRPr lang="es-ES" sz="1400" b="1" dirty="0">
              <a:solidFill>
                <a:srgbClr val="007A76"/>
              </a:solidFill>
              <a:latin typeface="Calibri"/>
            </a:endParaRP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Dibujad 4 capas horizontales de arriba a abajo: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①  Fuentes de datos (apps, sensores, BBDD, logs, redes sociales)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②  Ingesta y mensajería (Kafka, Flume, Sqoop)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③  Almacenamiento y procesamiento (HDFS, Spark, Hadoop)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④  Análisis y visualización (Hive, Tableau, Power BI)</a:t>
            </a:r>
          </a:p>
        </p:txBody>
      </p:sp>
      <p:sp>
        <p:nvSpPr>
          <p:cNvPr id="11" name="Shape 8"/>
          <p:cNvSpPr/>
          <p:nvPr/>
        </p:nvSpPr>
        <p:spPr>
          <a:xfrm>
            <a:off x="3246120" y="1502039"/>
            <a:ext cx="2651760" cy="3197976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3246120" y="1536171"/>
            <a:ext cx="54864" cy="3163843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3300984" y="1536171"/>
            <a:ext cx="2596896" cy="316384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Paso 2 — Conectad con flechas </a:t>
            </a:r>
          </a:p>
          <a:p>
            <a:pPr marL="228600" indent="-228600">
              <a:buNone/>
            </a:pPr>
            <a:endParaRPr lang="es-ES" sz="1400" b="1" dirty="0">
              <a:solidFill>
                <a:srgbClr val="007A76"/>
              </a:solidFill>
              <a:latin typeface="Calibri"/>
            </a:endParaRP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Dibujad flechas entre capas: ¿cómo fluyen los datos?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Añadid el tipo de flujo: batch (lotes) o streaming (tiempo real)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Indicad qué capa usa Scala/Spark (spoiler: principalmente capa 3)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Anotad junto a cada herramienta una empresa que la usa</a:t>
            </a:r>
          </a:p>
        </p:txBody>
      </p:sp>
      <p:sp>
        <p:nvSpPr>
          <p:cNvPr id="14" name="Shape 11"/>
          <p:cNvSpPr/>
          <p:nvPr/>
        </p:nvSpPr>
        <p:spPr>
          <a:xfrm>
            <a:off x="6172200" y="1497193"/>
            <a:ext cx="2651760" cy="3202822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6172200" y="1536171"/>
            <a:ext cx="54864" cy="3163843"/>
          </a:xfrm>
          <a:prstGeom prst="rect">
            <a:avLst/>
          </a:prstGeom>
          <a:solidFill>
            <a:srgbClr val="007A76"/>
          </a:solidFill>
          <a:ln w="12700">
            <a:solidFill>
              <a:srgbClr val="007A7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6227064" y="1510907"/>
            <a:ext cx="2551176" cy="316384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Paso 3 — Revisad con estas preguntas </a:t>
            </a:r>
          </a:p>
          <a:p>
            <a:pPr marL="228600" indent="-228600">
              <a:buNone/>
            </a:pPr>
            <a:endParaRPr lang="es-ES" sz="1400" b="1" dirty="0">
              <a:solidFill>
                <a:srgbClr val="007A76"/>
              </a:solidFill>
              <a:latin typeface="Calibri"/>
            </a:endParaRP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¿Dónde entraría un nuevo tweet de Twitter en vuestro mapa?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¿Qué capa sufre más si los datos llegan corruptos (veracidad)?</a:t>
            </a:r>
          </a:p>
          <a:p>
            <a:pPr marL="342900" indent="-228600">
              <a:buChar char="•"/>
            </a:pPr>
            <a:r>
              <a:rPr lang="es-ES" sz="1300" dirty="0">
                <a:solidFill>
                  <a:srgbClr val="333333"/>
                </a:solidFill>
                <a:latin typeface="Calibri"/>
              </a:rPr>
              <a:t>¿En qué capa trabajaréis vosotros al terminar este curso?</a:t>
            </a:r>
          </a:p>
        </p:txBody>
      </p:sp>
      <p:sp>
        <p:nvSpPr>
          <p:cNvPr id="17" name="Shape 14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274320" y="48326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Impulso_06  ·  Formación y Futuro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138160" y="48326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3152"/>
            <a:ext cx="1298448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" y="182880"/>
            <a:ext cx="73272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Práctica 3 — Relaciona Herramientas con Funciones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804672"/>
            <a:ext cx="8595360" cy="22860"/>
          </a:xfrm>
          <a:prstGeom prst="rect">
            <a:avLst/>
          </a:prstGeom>
          <a:solidFill>
            <a:srgbClr val="C8ECEA"/>
          </a:solidFill>
          <a:ln w="12700">
            <a:solidFill>
              <a:srgbClr val="C8EC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320040" y="914400"/>
            <a:ext cx="4114800" cy="3826764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320040" y="914400"/>
            <a:ext cx="54864" cy="3785616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914400"/>
            <a:ext cx="3931920" cy="37398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r>
              <a:rPr lang="es-ES" sz="1400" b="1" dirty="0">
                <a:solidFill>
                  <a:srgbClr val="007A76"/>
                </a:solidFill>
                <a:latin typeface="Calibri"/>
              </a:rPr>
              <a:t>Instrucciones </a:t>
            </a:r>
          </a:p>
          <a:p>
            <a:pPr marL="114300"/>
            <a:r>
              <a:rPr lang="es-ES" sz="1300" dirty="0">
                <a:solidFill>
                  <a:srgbClr val="333333"/>
                </a:solidFill>
                <a:latin typeface="Calibri"/>
              </a:rPr>
              <a:t>Conecta cada herramienta con su función principal</a:t>
            </a:r>
          </a:p>
          <a:p>
            <a:pPr marL="114300"/>
            <a:endParaRPr lang="es-ES" sz="1300" dirty="0">
              <a:solidFill>
                <a:srgbClr val="333333"/>
              </a:solidFill>
              <a:latin typeface="Calibri"/>
            </a:endParaRPr>
          </a:p>
          <a:p>
            <a:pPr>
              <a:buNone/>
            </a:pPr>
            <a:endParaRPr lang="es-ES" sz="700" dirty="0"/>
          </a:p>
          <a:p>
            <a:pPr marL="228600" indent="-228600">
              <a:buNone/>
            </a:pPr>
            <a:r>
              <a:rPr lang="es-ES" sz="2000" b="1" dirty="0">
                <a:solidFill>
                  <a:srgbClr val="007A76"/>
                </a:solidFill>
                <a:latin typeface="Calibri"/>
              </a:rPr>
              <a:t>Las herramientas</a:t>
            </a:r>
          </a:p>
          <a:p>
            <a:pPr marL="342900" indent="-228600">
              <a:buChar char="•"/>
            </a:pPr>
            <a:r>
              <a:rPr lang="es-ES" dirty="0">
                <a:solidFill>
                  <a:srgbClr val="333333"/>
                </a:solidFill>
                <a:latin typeface="Calibri"/>
              </a:rPr>
              <a:t>A. Apache Spark</a:t>
            </a:r>
          </a:p>
          <a:p>
            <a:pPr marL="342900" indent="-228600">
              <a:buChar char="•"/>
            </a:pPr>
            <a:r>
              <a:rPr lang="es-ES" dirty="0">
                <a:solidFill>
                  <a:srgbClr val="333333"/>
                </a:solidFill>
                <a:latin typeface="Calibri"/>
              </a:rPr>
              <a:t>B. Apache Kafka</a:t>
            </a:r>
          </a:p>
          <a:p>
            <a:pPr marL="342900" indent="-228600">
              <a:buChar char="•"/>
            </a:pPr>
            <a:r>
              <a:rPr lang="es-ES" dirty="0">
                <a:solidFill>
                  <a:srgbClr val="333333"/>
                </a:solidFill>
                <a:latin typeface="Calibri"/>
              </a:rPr>
              <a:t>C. Apache Hadoop (HDFS)</a:t>
            </a:r>
          </a:p>
          <a:p>
            <a:pPr marL="342900" indent="-228600">
              <a:buChar char="•"/>
            </a:pPr>
            <a:r>
              <a:rPr lang="es-ES" dirty="0">
                <a:solidFill>
                  <a:srgbClr val="333333"/>
                </a:solidFill>
                <a:latin typeface="Calibri"/>
              </a:rPr>
              <a:t>D. Apache Hive</a:t>
            </a:r>
          </a:p>
          <a:p>
            <a:pPr marL="342900" indent="-228600">
              <a:buChar char="•"/>
            </a:pPr>
            <a:r>
              <a:rPr lang="es-ES" dirty="0">
                <a:solidFill>
                  <a:srgbClr val="333333"/>
                </a:solidFill>
                <a:latin typeface="Calibri"/>
              </a:rPr>
              <a:t>E. Apache Flink</a:t>
            </a:r>
          </a:p>
          <a:p>
            <a:pPr marL="342900" indent="-228600">
              <a:buChar char="•"/>
            </a:pPr>
            <a:r>
              <a:rPr lang="es-ES" dirty="0">
                <a:solidFill>
                  <a:srgbClr val="333333"/>
                </a:solidFill>
                <a:latin typeface="Calibri"/>
              </a:rPr>
              <a:t>F. Tableau / Power BI</a:t>
            </a:r>
          </a:p>
          <a:p>
            <a:pPr marL="342900" indent="-228600">
              <a:buChar char="•"/>
            </a:pPr>
            <a:r>
              <a:rPr lang="es-ES" dirty="0">
                <a:solidFill>
                  <a:srgbClr val="333333"/>
                </a:solidFill>
                <a:latin typeface="Calibri"/>
              </a:rPr>
              <a:t>G. Apache Cassandra</a:t>
            </a:r>
          </a:p>
          <a:p>
            <a:pPr marL="342900" indent="-228600">
              <a:buChar char="•"/>
            </a:pPr>
            <a:r>
              <a:rPr lang="es-ES" dirty="0">
                <a:solidFill>
                  <a:srgbClr val="333333"/>
                </a:solidFill>
                <a:latin typeface="Calibri"/>
              </a:rPr>
              <a:t>H. Apache Sqoop</a:t>
            </a:r>
          </a:p>
        </p:txBody>
      </p:sp>
      <p:sp>
        <p:nvSpPr>
          <p:cNvPr id="9" name="Shape 6"/>
          <p:cNvSpPr/>
          <p:nvPr/>
        </p:nvSpPr>
        <p:spPr>
          <a:xfrm>
            <a:off x="4709160" y="914400"/>
            <a:ext cx="4114800" cy="38633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C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4709160" y="914400"/>
            <a:ext cx="91440" cy="3826764"/>
          </a:xfrm>
          <a:prstGeom prst="rect">
            <a:avLst/>
          </a:prstGeom>
          <a:solidFill>
            <a:srgbClr val="007A76"/>
          </a:solidFill>
          <a:ln w="12700">
            <a:solidFill>
              <a:srgbClr val="007A7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4846320" y="914400"/>
            <a:ext cx="3931920" cy="37856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28600" indent="-228600">
              <a:buNone/>
            </a:pPr>
            <a:endParaRPr lang="es-ES" sz="1400" b="1" dirty="0">
              <a:solidFill>
                <a:srgbClr val="007A76"/>
              </a:solidFill>
              <a:latin typeface="Calibri"/>
            </a:endParaRPr>
          </a:p>
          <a:p>
            <a:pPr marL="228600" indent="-228600">
              <a:buNone/>
            </a:pPr>
            <a:r>
              <a:rPr lang="es-ES" sz="1600" b="1" dirty="0">
                <a:solidFill>
                  <a:srgbClr val="007A76"/>
                </a:solidFill>
                <a:latin typeface="Calibri"/>
              </a:rPr>
              <a:t>Las funciones (une con flechas)</a:t>
            </a:r>
          </a:p>
          <a:p>
            <a:pPr marL="342900" indent="-228600">
              <a:buChar char="•"/>
            </a:pPr>
            <a:r>
              <a:rPr lang="es-ES" sz="1400" dirty="0">
                <a:solidFill>
                  <a:srgbClr val="333333"/>
                </a:solidFill>
                <a:latin typeface="Calibri"/>
              </a:rPr>
              <a:t>1. Almacenamiento distribuido de ficheros en disco</a:t>
            </a:r>
          </a:p>
          <a:p>
            <a:pPr marL="342900" indent="-228600">
              <a:buChar char="•"/>
            </a:pPr>
            <a:r>
              <a:rPr lang="es-ES" sz="1400" dirty="0">
                <a:solidFill>
                  <a:srgbClr val="333333"/>
                </a:solidFill>
                <a:latin typeface="Calibri"/>
              </a:rPr>
              <a:t>2. Procesamiento en memoria, batch y streaming</a:t>
            </a:r>
          </a:p>
          <a:p>
            <a:pPr marL="342900" indent="-228600">
              <a:buChar char="•"/>
            </a:pPr>
            <a:r>
              <a:rPr lang="es-ES" sz="1400" dirty="0">
                <a:solidFill>
                  <a:srgbClr val="333333"/>
                </a:solidFill>
                <a:latin typeface="Calibri"/>
              </a:rPr>
              <a:t>3. Mensajería y cola de eventos en tiempo real</a:t>
            </a:r>
          </a:p>
          <a:p>
            <a:pPr marL="342900" indent="-228600">
              <a:buChar char="•"/>
            </a:pPr>
            <a:r>
              <a:rPr lang="es-ES" sz="1400" dirty="0">
                <a:solidFill>
                  <a:srgbClr val="333333"/>
                </a:solidFill>
                <a:latin typeface="Calibri"/>
              </a:rPr>
              <a:t>4. SQL sobre datos almacenados en HDFS/S3</a:t>
            </a:r>
          </a:p>
          <a:p>
            <a:pPr marL="342900" indent="-228600">
              <a:buChar char="•"/>
            </a:pPr>
            <a:r>
              <a:rPr lang="es-ES" sz="1400" dirty="0">
                <a:solidFill>
                  <a:srgbClr val="333333"/>
                </a:solidFill>
                <a:latin typeface="Calibri"/>
              </a:rPr>
              <a:t>5. Streaming avanzado con estado y procesamiento exacto</a:t>
            </a:r>
          </a:p>
          <a:p>
            <a:pPr marL="342900" indent="-228600">
              <a:buChar char="•"/>
            </a:pPr>
            <a:r>
              <a:rPr lang="es-ES" sz="1400" dirty="0">
                <a:solidFill>
                  <a:srgbClr val="333333"/>
                </a:solidFill>
                <a:latin typeface="Calibri"/>
              </a:rPr>
              <a:t>6. Visualización de datos: dashboards e informes</a:t>
            </a:r>
          </a:p>
          <a:p>
            <a:pPr marL="342900" indent="-228600">
              <a:buChar char="•"/>
            </a:pPr>
            <a:r>
              <a:rPr lang="es-ES" sz="1400" dirty="0">
                <a:solidFill>
                  <a:srgbClr val="333333"/>
                </a:solidFill>
                <a:latin typeface="Calibri"/>
              </a:rPr>
              <a:t>7. Base de datos NoSQL para alta disponibilidad</a:t>
            </a:r>
          </a:p>
          <a:p>
            <a:pPr marL="342900" indent="-228600">
              <a:buChar char="•"/>
            </a:pPr>
            <a:r>
              <a:rPr lang="es-ES" sz="1400" dirty="0">
                <a:solidFill>
                  <a:srgbClr val="333333"/>
                </a:solidFill>
                <a:latin typeface="Calibri"/>
              </a:rPr>
              <a:t>8. Importar/exportar datos desde bases relacionales a HDFS</a:t>
            </a:r>
          </a:p>
          <a:p>
            <a:pPr>
              <a:buNone/>
            </a:pPr>
            <a:endParaRPr lang="es-ES" sz="700" dirty="0"/>
          </a:p>
        </p:txBody>
      </p:sp>
      <p:sp>
        <p:nvSpPr>
          <p:cNvPr id="12" name="Shape 9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274320" y="48326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Impulso_06  ·  Formación y Futuro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138160" y="48326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02920" y="0"/>
            <a:ext cx="4114800" cy="5143500"/>
          </a:xfrm>
          <a:prstGeom prst="rect">
            <a:avLst/>
          </a:prstGeom>
          <a:solidFill>
            <a:srgbClr val="00A39E">
              <a:alpha val="12000"/>
            </a:srgbClr>
          </a:solidFill>
          <a:ln w="12700">
            <a:solidFill>
              <a:srgbClr val="007A7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731520" y="10972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731520" y="2103120"/>
            <a:ext cx="2286000" cy="45720"/>
          </a:xfrm>
          <a:prstGeom prst="rect">
            <a:avLst/>
          </a:prstGeom>
          <a:solidFill>
            <a:srgbClr val="00A39E"/>
          </a:solidFill>
          <a:ln w="12700">
            <a:solidFill>
              <a:srgbClr val="00A3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731520" y="2286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A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· Reflexiones · ¡Buen trabajo hoy!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7416" y="2926080"/>
            <a:ext cx="3868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D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 completado ✅ ·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6D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</a:t>
            </a:r>
            <a:r>
              <a:rPr lang="en-US" sz="1200" dirty="0">
                <a:solidFill>
                  <a:srgbClr val="6D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Desafíos Técnicos y Seguridad en Big Data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274320" y="48326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E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Impulso_06  ·  Formación y Futuro</a:t>
            </a:r>
            <a:endParaRPr lang="en-US" sz="80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8E246BFB-BA91-77D1-53BD-9C200B4BA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8885" y="25677"/>
            <a:ext cx="12344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2261</Words>
  <Application>Microsoft Office PowerPoint</Application>
  <PresentationFormat>Presentación en pantalla (16:9)</PresentationFormat>
  <Paragraphs>328</Paragraphs>
  <Slides>19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con Scala – Plantilla Impulso_06</dc:title>
  <dc:subject>PptxGenJS Presentation</dc:subject>
  <dc:creator>Impulso_06</dc:creator>
  <cp:lastModifiedBy>Juan J Rodriguez B</cp:lastModifiedBy>
  <cp:revision>1</cp:revision>
  <dcterms:created xsi:type="dcterms:W3CDTF">2026-04-05T21:36:33Z</dcterms:created>
  <dcterms:modified xsi:type="dcterms:W3CDTF">2026-04-06T00:17:56Z</dcterms:modified>
</cp:coreProperties>
</file>